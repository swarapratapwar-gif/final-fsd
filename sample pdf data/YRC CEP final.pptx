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4" r:id="rId8"/>
    <p:sldId id="262" r:id="rId9"/>
    <p:sldId id="263" r:id="rId10"/>
  </p:sldIdLst>
  <p:sldSz cx="18288000" cy="10287000"/>
  <p:notesSz cx="6858000" cy="9144000"/>
  <p:embeddedFontLst>
    <p:embeddedFont>
      <p:font typeface="Times New Roman MT" panose="020B0604020202020204" charset="0"/>
      <p:regular r:id="rId12"/>
    </p:embeddedFont>
    <p:embeddedFont>
      <p:font typeface="Times New Roman MT Bold" panose="020B0604020202020204" charset="0"/>
      <p:regular r:id="rId13"/>
    </p:embeddedFont>
    <p:embeddedFont>
      <p:font typeface="Times New Roman MT Bold Italics" panose="020B0604020202020204" charset="0"/>
      <p:regular r:id="rId14"/>
    </p:embeddedFont>
    <p:embeddedFont>
      <p:font typeface="Times New Roman MT Italics"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64855B-C8A2-4BDF-80E9-40704C9BBFCD}" v="13" dt="2025-09-30T06:03:34.5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6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rth Shendkar" userId="1b55035cf6fddf2c" providerId="LiveId" clId="{069CA549-9229-4121-97DD-801C5251810F}"/>
    <pc:docChg chg="custSel addSld modSld sldOrd">
      <pc:chgData name="Parth Shendkar" userId="1b55035cf6fddf2c" providerId="LiveId" clId="{069CA549-9229-4121-97DD-801C5251810F}" dt="2025-09-30T06:10:23.880" v="341" actId="20577"/>
      <pc:docMkLst>
        <pc:docMk/>
      </pc:docMkLst>
      <pc:sldChg chg="modSp mod">
        <pc:chgData name="Parth Shendkar" userId="1b55035cf6fddf2c" providerId="LiveId" clId="{069CA549-9229-4121-97DD-801C5251810F}" dt="2025-09-30T06:10:23.880" v="341" actId="20577"/>
        <pc:sldMkLst>
          <pc:docMk/>
          <pc:sldMk cId="0" sldId="256"/>
        </pc:sldMkLst>
        <pc:spChg chg="mod">
          <ac:chgData name="Parth Shendkar" userId="1b55035cf6fddf2c" providerId="LiveId" clId="{069CA549-9229-4121-97DD-801C5251810F}" dt="2025-09-30T06:10:05.633" v="306" actId="20577"/>
          <ac:spMkLst>
            <pc:docMk/>
            <pc:sldMk cId="0" sldId="256"/>
            <ac:spMk id="14" creationId="{00000000-0000-0000-0000-000000000000}"/>
          </ac:spMkLst>
        </pc:spChg>
        <pc:spChg chg="mod">
          <ac:chgData name="Parth Shendkar" userId="1b55035cf6fddf2c" providerId="LiveId" clId="{069CA549-9229-4121-97DD-801C5251810F}" dt="2025-09-30T06:10:01.097" v="293" actId="20577"/>
          <ac:spMkLst>
            <pc:docMk/>
            <pc:sldMk cId="0" sldId="256"/>
            <ac:spMk id="15" creationId="{00000000-0000-0000-0000-000000000000}"/>
          </ac:spMkLst>
        </pc:spChg>
        <pc:spChg chg="mod">
          <ac:chgData name="Parth Shendkar" userId="1b55035cf6fddf2c" providerId="LiveId" clId="{069CA549-9229-4121-97DD-801C5251810F}" dt="2025-09-30T06:10:12.135" v="332" actId="20577"/>
          <ac:spMkLst>
            <pc:docMk/>
            <pc:sldMk cId="0" sldId="256"/>
            <ac:spMk id="16" creationId="{00000000-0000-0000-0000-000000000000}"/>
          </ac:spMkLst>
        </pc:spChg>
        <pc:spChg chg="mod">
          <ac:chgData name="Parth Shendkar" userId="1b55035cf6fddf2c" providerId="LiveId" clId="{069CA549-9229-4121-97DD-801C5251810F}" dt="2025-09-30T06:10:09.040" v="319" actId="20577"/>
          <ac:spMkLst>
            <pc:docMk/>
            <pc:sldMk cId="0" sldId="256"/>
            <ac:spMk id="17" creationId="{00000000-0000-0000-0000-000000000000}"/>
          </ac:spMkLst>
        </pc:spChg>
        <pc:spChg chg="mod">
          <ac:chgData name="Parth Shendkar" userId="1b55035cf6fddf2c" providerId="LiveId" clId="{069CA549-9229-4121-97DD-801C5251810F}" dt="2025-09-30T06:10:23.880" v="341" actId="20577"/>
          <ac:spMkLst>
            <pc:docMk/>
            <pc:sldMk cId="0" sldId="256"/>
            <ac:spMk id="18" creationId="{00000000-0000-0000-0000-000000000000}"/>
          </ac:spMkLst>
        </pc:spChg>
      </pc:sldChg>
      <pc:sldChg chg="modSp mod">
        <pc:chgData name="Parth Shendkar" userId="1b55035cf6fddf2c" providerId="LiveId" clId="{069CA549-9229-4121-97DD-801C5251810F}" dt="2025-09-30T04:08:48.158" v="0" actId="1076"/>
        <pc:sldMkLst>
          <pc:docMk/>
          <pc:sldMk cId="0" sldId="257"/>
        </pc:sldMkLst>
        <pc:spChg chg="mod">
          <ac:chgData name="Parth Shendkar" userId="1b55035cf6fddf2c" providerId="LiveId" clId="{069CA549-9229-4121-97DD-801C5251810F}" dt="2025-09-30T04:08:48.158" v="0" actId="1076"/>
          <ac:spMkLst>
            <pc:docMk/>
            <pc:sldMk cId="0" sldId="257"/>
            <ac:spMk id="22" creationId="{00000000-0000-0000-0000-000000000000}"/>
          </ac:spMkLst>
        </pc:spChg>
      </pc:sldChg>
      <pc:sldChg chg="modSp mod">
        <pc:chgData name="Parth Shendkar" userId="1b55035cf6fddf2c" providerId="LiveId" clId="{069CA549-9229-4121-97DD-801C5251810F}" dt="2025-09-30T04:08:59.690" v="1" actId="1076"/>
        <pc:sldMkLst>
          <pc:docMk/>
          <pc:sldMk cId="0" sldId="258"/>
        </pc:sldMkLst>
        <pc:spChg chg="mod">
          <ac:chgData name="Parth Shendkar" userId="1b55035cf6fddf2c" providerId="LiveId" clId="{069CA549-9229-4121-97DD-801C5251810F}" dt="2025-09-30T04:08:59.690" v="1" actId="1076"/>
          <ac:spMkLst>
            <pc:docMk/>
            <pc:sldMk cId="0" sldId="258"/>
            <ac:spMk id="14" creationId="{00000000-0000-0000-0000-000000000000}"/>
          </ac:spMkLst>
        </pc:spChg>
      </pc:sldChg>
      <pc:sldChg chg="modSp mod">
        <pc:chgData name="Parth Shendkar" userId="1b55035cf6fddf2c" providerId="LiveId" clId="{069CA549-9229-4121-97DD-801C5251810F}" dt="2025-09-30T04:09:09.587" v="2" actId="1076"/>
        <pc:sldMkLst>
          <pc:docMk/>
          <pc:sldMk cId="0" sldId="263"/>
        </pc:sldMkLst>
        <pc:spChg chg="mod">
          <ac:chgData name="Parth Shendkar" userId="1b55035cf6fddf2c" providerId="LiveId" clId="{069CA549-9229-4121-97DD-801C5251810F}" dt="2025-09-30T04:09:09.587" v="2" actId="1076"/>
          <ac:spMkLst>
            <pc:docMk/>
            <pc:sldMk cId="0" sldId="263"/>
            <ac:spMk id="5" creationId="{00000000-0000-0000-0000-000000000000}"/>
          </ac:spMkLst>
        </pc:spChg>
      </pc:sldChg>
      <pc:sldChg chg="addSp delSp modSp add mod ord">
        <pc:chgData name="Parth Shendkar" userId="1b55035cf6fddf2c" providerId="LiveId" clId="{069CA549-9229-4121-97DD-801C5251810F}" dt="2025-09-30T06:05:07.436" v="280" actId="2711"/>
        <pc:sldMkLst>
          <pc:docMk/>
          <pc:sldMk cId="3979967714" sldId="264"/>
        </pc:sldMkLst>
        <pc:spChg chg="del topLvl">
          <ac:chgData name="Parth Shendkar" userId="1b55035cf6fddf2c" providerId="LiveId" clId="{069CA549-9229-4121-97DD-801C5251810F}" dt="2025-09-30T05:45:33.986" v="9" actId="21"/>
          <ac:spMkLst>
            <pc:docMk/>
            <pc:sldMk cId="3979967714" sldId="264"/>
            <ac:spMk id="4" creationId="{BBCD25EB-BAB9-52D1-2E8F-2827B53D180C}"/>
          </ac:spMkLst>
        </pc:spChg>
        <pc:spChg chg="mod topLvl">
          <ac:chgData name="Parth Shendkar" userId="1b55035cf6fddf2c" providerId="LiveId" clId="{069CA549-9229-4121-97DD-801C5251810F}" dt="2025-09-30T05:45:33.986" v="9" actId="21"/>
          <ac:spMkLst>
            <pc:docMk/>
            <pc:sldMk cId="3979967714" sldId="264"/>
            <ac:spMk id="5" creationId="{DE047824-3B73-3D75-2D2B-A2F78B219A41}"/>
          </ac:spMkLst>
        </pc:spChg>
        <pc:spChg chg="del topLvl">
          <ac:chgData name="Parth Shendkar" userId="1b55035cf6fddf2c" providerId="LiveId" clId="{069CA549-9229-4121-97DD-801C5251810F}" dt="2025-09-30T05:45:26.347" v="5" actId="21"/>
          <ac:spMkLst>
            <pc:docMk/>
            <pc:sldMk cId="3979967714" sldId="264"/>
            <ac:spMk id="7" creationId="{0F2010F2-640D-EE3A-30E7-C09E5A7C45F0}"/>
          </ac:spMkLst>
        </pc:spChg>
        <pc:spChg chg="mod topLvl">
          <ac:chgData name="Parth Shendkar" userId="1b55035cf6fddf2c" providerId="LiveId" clId="{069CA549-9229-4121-97DD-801C5251810F}" dt="2025-09-30T05:46:38.122" v="55" actId="14100"/>
          <ac:spMkLst>
            <pc:docMk/>
            <pc:sldMk cId="3979967714" sldId="264"/>
            <ac:spMk id="8" creationId="{1F18ABF7-15A6-8F1A-171C-39217959AAFB}"/>
          </ac:spMkLst>
        </pc:spChg>
        <pc:spChg chg="mod">
          <ac:chgData name="Parth Shendkar" userId="1b55035cf6fddf2c" providerId="LiveId" clId="{069CA549-9229-4121-97DD-801C5251810F}" dt="2025-09-30T05:46:08.632" v="54" actId="1076"/>
          <ac:spMkLst>
            <pc:docMk/>
            <pc:sldMk cId="3979967714" sldId="264"/>
            <ac:spMk id="11" creationId="{6A3F41B4-A8E0-3661-1CF3-43F737FD533A}"/>
          </ac:spMkLst>
        </pc:spChg>
        <pc:spChg chg="del topLvl">
          <ac:chgData name="Parth Shendkar" userId="1b55035cf6fddf2c" providerId="LiveId" clId="{069CA549-9229-4121-97DD-801C5251810F}" dt="2025-09-30T05:45:31.103" v="7" actId="21"/>
          <ac:spMkLst>
            <pc:docMk/>
            <pc:sldMk cId="3979967714" sldId="264"/>
            <ac:spMk id="13" creationId="{3CE14075-903B-B0B6-B452-2C7E8AF25E73}"/>
          </ac:spMkLst>
        </pc:spChg>
        <pc:spChg chg="mod topLvl">
          <ac:chgData name="Parth Shendkar" userId="1b55035cf6fddf2c" providerId="LiveId" clId="{069CA549-9229-4121-97DD-801C5251810F}" dt="2025-09-30T05:45:31.103" v="7" actId="21"/>
          <ac:spMkLst>
            <pc:docMk/>
            <pc:sldMk cId="3979967714" sldId="264"/>
            <ac:spMk id="14" creationId="{72C3E5E1-A812-D3F4-96E1-656D07E070D1}"/>
          </ac:spMkLst>
        </pc:spChg>
        <pc:spChg chg="del topLvl">
          <ac:chgData name="Parth Shendkar" userId="1b55035cf6fddf2c" providerId="LiveId" clId="{069CA549-9229-4121-97DD-801C5251810F}" dt="2025-09-30T05:45:40.133" v="12" actId="21"/>
          <ac:spMkLst>
            <pc:docMk/>
            <pc:sldMk cId="3979967714" sldId="264"/>
            <ac:spMk id="16" creationId="{1676CCDF-23BA-4443-B3F2-374357BB51F9}"/>
          </ac:spMkLst>
        </pc:spChg>
        <pc:spChg chg="mod topLvl">
          <ac:chgData name="Parth Shendkar" userId="1b55035cf6fddf2c" providerId="LiveId" clId="{069CA549-9229-4121-97DD-801C5251810F}" dt="2025-09-30T05:45:40.133" v="12" actId="21"/>
          <ac:spMkLst>
            <pc:docMk/>
            <pc:sldMk cId="3979967714" sldId="264"/>
            <ac:spMk id="17" creationId="{29AB4E82-8FEA-5C2B-BD23-B5734EA1BC15}"/>
          </ac:spMkLst>
        </pc:spChg>
        <pc:spChg chg="add del mod">
          <ac:chgData name="Parth Shendkar" userId="1b55035cf6fddf2c" providerId="LiveId" clId="{069CA549-9229-4121-97DD-801C5251810F}" dt="2025-09-30T05:48:19.658" v="86"/>
          <ac:spMkLst>
            <pc:docMk/>
            <pc:sldMk cId="3979967714" sldId="264"/>
            <ac:spMk id="18" creationId="{75147D5F-7C8A-5BA8-60A6-40233D1738D2}"/>
          </ac:spMkLst>
        </pc:spChg>
        <pc:spChg chg="add del mod">
          <ac:chgData name="Parth Shendkar" userId="1b55035cf6fddf2c" providerId="LiveId" clId="{069CA549-9229-4121-97DD-801C5251810F}" dt="2025-09-30T05:52:12.176" v="197" actId="21"/>
          <ac:spMkLst>
            <pc:docMk/>
            <pc:sldMk cId="3979967714" sldId="264"/>
            <ac:spMk id="21" creationId="{3738DBA7-3B5F-CD32-4988-E1F738DA48E7}"/>
          </ac:spMkLst>
        </pc:spChg>
        <pc:spChg chg="add del mod">
          <ac:chgData name="Parth Shendkar" userId="1b55035cf6fddf2c" providerId="LiveId" clId="{069CA549-9229-4121-97DD-801C5251810F}" dt="2025-09-30T06:04:30.773" v="271" actId="21"/>
          <ac:spMkLst>
            <pc:docMk/>
            <pc:sldMk cId="3979967714" sldId="264"/>
            <ac:spMk id="22" creationId="{09FDD35E-20B2-CED5-939F-A752AADDF700}"/>
          </ac:spMkLst>
        </pc:spChg>
        <pc:spChg chg="add mod">
          <ac:chgData name="Parth Shendkar" userId="1b55035cf6fddf2c" providerId="LiveId" clId="{069CA549-9229-4121-97DD-801C5251810F}" dt="2025-09-30T06:05:07.436" v="280" actId="2711"/>
          <ac:spMkLst>
            <pc:docMk/>
            <pc:sldMk cId="3979967714" sldId="264"/>
            <ac:spMk id="23" creationId="{F6ADE665-F9D4-0F9A-1572-01A0B6AECE1F}"/>
          </ac:spMkLst>
        </pc:spChg>
        <pc:spChg chg="mod">
          <ac:chgData name="Parth Shendkar" userId="1b55035cf6fddf2c" providerId="LiveId" clId="{069CA549-9229-4121-97DD-801C5251810F}" dt="2025-09-30T06:04:36.296" v="272" actId="1076"/>
          <ac:spMkLst>
            <pc:docMk/>
            <pc:sldMk cId="3979967714" sldId="264"/>
            <ac:spMk id="25" creationId="{40954185-B124-EE2A-11AB-CCD2758B16B8}"/>
          </ac:spMkLst>
        </pc:spChg>
        <pc:spChg chg="mod">
          <ac:chgData name="Parth Shendkar" userId="1b55035cf6fddf2c" providerId="LiveId" clId="{069CA549-9229-4121-97DD-801C5251810F}" dt="2025-09-30T06:03:37.420" v="263" actId="20577"/>
          <ac:spMkLst>
            <pc:docMk/>
            <pc:sldMk cId="3979967714" sldId="264"/>
            <ac:spMk id="26" creationId="{B1203415-C289-E859-4DF2-A132D3E32790}"/>
          </ac:spMkLst>
        </pc:spChg>
        <pc:spChg chg="add mod">
          <ac:chgData name="Parth Shendkar" userId="1b55035cf6fddf2c" providerId="LiveId" clId="{069CA549-9229-4121-97DD-801C5251810F}" dt="2025-09-30T06:04:54.989" v="279" actId="2711"/>
          <ac:spMkLst>
            <pc:docMk/>
            <pc:sldMk cId="3979967714" sldId="264"/>
            <ac:spMk id="28" creationId="{592C2012-AC84-3D47-3F82-79B9D3F72813}"/>
          </ac:spMkLst>
        </pc:spChg>
        <pc:grpChg chg="del">
          <ac:chgData name="Parth Shendkar" userId="1b55035cf6fddf2c" providerId="LiveId" clId="{069CA549-9229-4121-97DD-801C5251810F}" dt="2025-09-30T05:45:33.986" v="9" actId="21"/>
          <ac:grpSpMkLst>
            <pc:docMk/>
            <pc:sldMk cId="3979967714" sldId="264"/>
            <ac:grpSpMk id="3" creationId="{22653928-3448-367D-AFB4-5AFCCAD56F48}"/>
          </ac:grpSpMkLst>
        </pc:grpChg>
        <pc:grpChg chg="del">
          <ac:chgData name="Parth Shendkar" userId="1b55035cf6fddf2c" providerId="LiveId" clId="{069CA549-9229-4121-97DD-801C5251810F}" dt="2025-09-30T05:45:26.347" v="5" actId="21"/>
          <ac:grpSpMkLst>
            <pc:docMk/>
            <pc:sldMk cId="3979967714" sldId="264"/>
            <ac:grpSpMk id="6" creationId="{E9572A01-1B51-1B1C-FD41-F106E1DCEE52}"/>
          </ac:grpSpMkLst>
        </pc:grpChg>
        <pc:grpChg chg="del">
          <ac:chgData name="Parth Shendkar" userId="1b55035cf6fddf2c" providerId="LiveId" clId="{069CA549-9229-4121-97DD-801C5251810F}" dt="2025-09-30T05:45:31.103" v="7" actId="21"/>
          <ac:grpSpMkLst>
            <pc:docMk/>
            <pc:sldMk cId="3979967714" sldId="264"/>
            <ac:grpSpMk id="12" creationId="{0CD4BE19-7DF3-AC59-7EEC-17DE06D3E77F}"/>
          </ac:grpSpMkLst>
        </pc:grpChg>
        <pc:grpChg chg="del">
          <ac:chgData name="Parth Shendkar" userId="1b55035cf6fddf2c" providerId="LiveId" clId="{069CA549-9229-4121-97DD-801C5251810F}" dt="2025-09-30T05:45:40.133" v="12" actId="21"/>
          <ac:grpSpMkLst>
            <pc:docMk/>
            <pc:sldMk cId="3979967714" sldId="264"/>
            <ac:grpSpMk id="15" creationId="{7927257B-5930-45B8-A847-09171C2013DF}"/>
          </ac:grpSpMkLst>
        </pc:grpChg>
        <pc:grpChg chg="add mod">
          <ac:chgData name="Parth Shendkar" userId="1b55035cf6fddf2c" providerId="LiveId" clId="{069CA549-9229-4121-97DD-801C5251810F}" dt="2025-09-30T06:03:41.361" v="264" actId="1076"/>
          <ac:grpSpMkLst>
            <pc:docMk/>
            <pc:sldMk cId="3979967714" sldId="264"/>
            <ac:grpSpMk id="24" creationId="{AA75332E-C872-260A-6B96-B692CCB220BD}"/>
          </ac:grpSpMkLst>
        </pc:grpChg>
        <pc:picChg chg="add mod modCrop">
          <ac:chgData name="Parth Shendkar" userId="1b55035cf6fddf2c" providerId="LiveId" clId="{069CA549-9229-4121-97DD-801C5251810F}" dt="2025-09-30T05:54:26.079" v="248" actId="1076"/>
          <ac:picMkLst>
            <pc:docMk/>
            <pc:sldMk cId="3979967714" sldId="264"/>
            <ac:picMk id="20" creationId="{94F8020F-B88E-7969-106A-F9FED427721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30.09.2025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B71F3-7D79-66BF-70F4-9B1A152C831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D6F7BF-B827-19DF-5CB9-3D856FBC9A3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4771F6F-AD81-40E1-4CF8-5D3D7E5E8D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B93D4DB-E7B8-5253-D7B5-7AC6CED11E0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5EE457C-1D07-98A2-D6A4-96AE222F174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a:extLst>
              <a:ext uri="{FF2B5EF4-FFF2-40B4-BE49-F238E27FC236}">
                <a16:creationId xmlns:a16="http://schemas.microsoft.com/office/drawing/2014/main" id="{DF0C9029-EC63-22C6-DCBE-CC4ADA96185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D4A99BD-5FDE-99E0-0134-7E4179C59EC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7910099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5916" y="1210250"/>
            <a:ext cx="17041200" cy="4105200"/>
            <a:chOff x="0" y="0"/>
            <a:chExt cx="22721600" cy="5473600"/>
          </a:xfrm>
        </p:grpSpPr>
        <p:sp>
          <p:nvSpPr>
            <p:cNvPr id="3" name="Freeform 3"/>
            <p:cNvSpPr/>
            <p:nvPr/>
          </p:nvSpPr>
          <p:spPr>
            <a:xfrm>
              <a:off x="0" y="0"/>
              <a:ext cx="22721601" cy="5473600"/>
            </a:xfrm>
            <a:custGeom>
              <a:avLst/>
              <a:gdLst/>
              <a:ahLst/>
              <a:cxnLst/>
              <a:rect l="l" t="t" r="r" b="b"/>
              <a:pathLst>
                <a:path w="22721601" h="5473600">
                  <a:moveTo>
                    <a:pt x="0" y="0"/>
                  </a:moveTo>
                  <a:lnTo>
                    <a:pt x="22721601" y="0"/>
                  </a:lnTo>
                  <a:lnTo>
                    <a:pt x="22721601" y="5473600"/>
                  </a:lnTo>
                  <a:lnTo>
                    <a:pt x="0" y="5473600"/>
                  </a:lnTo>
                  <a:close/>
                </a:path>
              </a:pathLst>
            </a:custGeom>
            <a:solidFill>
              <a:srgbClr val="000000">
                <a:alpha val="0"/>
              </a:srgbClr>
            </a:solidFill>
          </p:spPr>
          <p:txBody>
            <a:bodyPr/>
            <a:lstStyle/>
            <a:p>
              <a:endParaRPr lang="en-US"/>
            </a:p>
          </p:txBody>
        </p:sp>
        <p:sp>
          <p:nvSpPr>
            <p:cNvPr id="4" name="TextBox 4"/>
            <p:cNvSpPr txBox="1"/>
            <p:nvPr/>
          </p:nvSpPr>
          <p:spPr>
            <a:xfrm>
              <a:off x="0" y="-180975"/>
              <a:ext cx="22721600" cy="5654575"/>
            </a:xfrm>
            <a:prstGeom prst="rect">
              <a:avLst/>
            </a:prstGeom>
          </p:spPr>
          <p:txBody>
            <a:bodyPr lIns="0" tIns="0" rIns="0" bIns="0" rtlCol="0" anchor="b"/>
            <a:lstStyle/>
            <a:p>
              <a:pPr algn="ctr">
                <a:lnSpc>
                  <a:spcPts val="10800"/>
                </a:lnSpc>
              </a:pPr>
              <a:r>
                <a:rPr lang="en-US" sz="9000" b="1">
                  <a:solidFill>
                    <a:srgbClr val="000000"/>
                  </a:solidFill>
                  <a:latin typeface="Times New Roman MT Bold"/>
                  <a:ea typeface="Times New Roman MT Bold"/>
                  <a:cs typeface="Times New Roman MT Bold"/>
                  <a:sym typeface="Times New Roman MT Bold"/>
                </a:rPr>
                <a:t>YOUNG RESEARCHERS’ CONFERENCE 2025 </a:t>
              </a:r>
            </a:p>
          </p:txBody>
        </p:sp>
      </p:grpSp>
      <p:grpSp>
        <p:nvGrpSpPr>
          <p:cNvPr id="5" name="Group 5"/>
          <p:cNvGrpSpPr>
            <a:grpSpLocks noChangeAspect="1"/>
          </p:cNvGrpSpPr>
          <p:nvPr/>
        </p:nvGrpSpPr>
        <p:grpSpPr>
          <a:xfrm>
            <a:off x="895200" y="337950"/>
            <a:ext cx="2031650" cy="2031650"/>
            <a:chOff x="0" y="0"/>
            <a:chExt cx="2708867" cy="2708867"/>
          </a:xfrm>
        </p:grpSpPr>
        <p:sp>
          <p:nvSpPr>
            <p:cNvPr id="6" name="Freeform 6"/>
            <p:cNvSpPr/>
            <p:nvPr/>
          </p:nvSpPr>
          <p:spPr>
            <a:xfrm>
              <a:off x="0" y="0"/>
              <a:ext cx="2708910" cy="2708910"/>
            </a:xfrm>
            <a:custGeom>
              <a:avLst/>
              <a:gdLst/>
              <a:ahLst/>
              <a:cxnLst/>
              <a:rect l="l" t="t" r="r" b="b"/>
              <a:pathLst>
                <a:path w="2708910" h="2708910">
                  <a:moveTo>
                    <a:pt x="0" y="0"/>
                  </a:moveTo>
                  <a:lnTo>
                    <a:pt x="2708910" y="0"/>
                  </a:lnTo>
                  <a:lnTo>
                    <a:pt x="2708910" y="2708910"/>
                  </a:lnTo>
                  <a:lnTo>
                    <a:pt x="0" y="2708910"/>
                  </a:lnTo>
                  <a:lnTo>
                    <a:pt x="0" y="0"/>
                  </a:lnTo>
                  <a:close/>
                </a:path>
              </a:pathLst>
            </a:custGeom>
            <a:blipFill>
              <a:blip r:embed="rId3"/>
              <a:stretch>
                <a:fillRect r="1" b="1"/>
              </a:stretch>
            </a:blipFill>
          </p:spPr>
          <p:txBody>
            <a:bodyPr/>
            <a:lstStyle/>
            <a:p>
              <a:endParaRPr lang="en-US"/>
            </a:p>
          </p:txBody>
        </p:sp>
      </p:grpSp>
      <p:sp>
        <p:nvSpPr>
          <p:cNvPr id="7" name="TextBox 7"/>
          <p:cNvSpPr txBox="1"/>
          <p:nvPr/>
        </p:nvSpPr>
        <p:spPr>
          <a:xfrm>
            <a:off x="5407225" y="579100"/>
            <a:ext cx="7658550" cy="1095975"/>
          </a:xfrm>
          <a:prstGeom prst="rect">
            <a:avLst/>
          </a:prstGeom>
        </p:spPr>
        <p:txBody>
          <a:bodyPr lIns="0" tIns="0" rIns="0" bIns="0" rtlCol="0" anchor="t">
            <a:spAutoFit/>
          </a:bodyPr>
          <a:lstStyle/>
          <a:p>
            <a:pPr algn="ctr">
              <a:lnSpc>
                <a:spcPts val="2879"/>
              </a:lnSpc>
            </a:pPr>
            <a:r>
              <a:rPr lang="en-US" sz="2400" b="1">
                <a:solidFill>
                  <a:srgbClr val="000000"/>
                </a:solidFill>
                <a:latin typeface="Times New Roman MT Bold"/>
                <a:ea typeface="Times New Roman MT Bold"/>
                <a:cs typeface="Times New Roman MT Bold"/>
                <a:sym typeface="Times New Roman MT Bold"/>
              </a:rPr>
              <a:t>Pimpri Chinchwad Education Trust’s</a:t>
            </a:r>
          </a:p>
          <a:p>
            <a:pPr algn="ctr">
              <a:lnSpc>
                <a:spcPts val="3840"/>
              </a:lnSpc>
            </a:pPr>
            <a:r>
              <a:rPr lang="en-US" sz="3200" b="1">
                <a:solidFill>
                  <a:srgbClr val="000000"/>
                </a:solidFill>
                <a:latin typeface="Times New Roman MT Bold"/>
                <a:ea typeface="Times New Roman MT Bold"/>
                <a:cs typeface="Times New Roman MT Bold"/>
                <a:sym typeface="Times New Roman MT Bold"/>
              </a:rPr>
              <a:t>Pimpri Chinchwad College of Engineering</a:t>
            </a:r>
          </a:p>
        </p:txBody>
      </p:sp>
      <p:sp>
        <p:nvSpPr>
          <p:cNvPr id="8" name="TextBox 8"/>
          <p:cNvSpPr txBox="1"/>
          <p:nvPr/>
        </p:nvSpPr>
        <p:spPr>
          <a:xfrm>
            <a:off x="6327925" y="1406075"/>
            <a:ext cx="5817150" cy="674700"/>
          </a:xfrm>
          <a:prstGeom prst="rect">
            <a:avLst/>
          </a:prstGeom>
        </p:spPr>
        <p:txBody>
          <a:bodyPr lIns="0" tIns="0" rIns="0" bIns="0" rtlCol="0" anchor="t">
            <a:spAutoFit/>
          </a:bodyPr>
          <a:lstStyle/>
          <a:p>
            <a:pPr algn="ctr">
              <a:lnSpc>
                <a:spcPts val="3359"/>
              </a:lnSpc>
            </a:pPr>
            <a:r>
              <a:rPr lang="en-US" sz="2799" b="1">
                <a:solidFill>
                  <a:srgbClr val="000000"/>
                </a:solidFill>
                <a:latin typeface="Times New Roman MT Bold"/>
                <a:ea typeface="Times New Roman MT Bold"/>
                <a:cs typeface="Times New Roman MT Bold"/>
                <a:sym typeface="Times New Roman MT Bold"/>
              </a:rPr>
              <a:t>Department of CSE (AI&amp;ML)</a:t>
            </a:r>
          </a:p>
        </p:txBody>
      </p:sp>
      <p:sp>
        <p:nvSpPr>
          <p:cNvPr id="9" name="TextBox 9"/>
          <p:cNvSpPr txBox="1"/>
          <p:nvPr/>
        </p:nvSpPr>
        <p:spPr>
          <a:xfrm rot="327">
            <a:off x="4089" y="5085475"/>
            <a:ext cx="18729150" cy="1733550"/>
          </a:xfrm>
          <a:prstGeom prst="rect">
            <a:avLst/>
          </a:prstGeom>
        </p:spPr>
        <p:txBody>
          <a:bodyPr lIns="0" tIns="0" rIns="0" bIns="0" rtlCol="0" anchor="t">
            <a:spAutoFit/>
          </a:bodyPr>
          <a:lstStyle/>
          <a:p>
            <a:pPr algn="ctr">
              <a:lnSpc>
                <a:spcPts val="3359"/>
              </a:lnSpc>
            </a:pPr>
            <a:r>
              <a:rPr lang="en-US" sz="2799" b="1">
                <a:solidFill>
                  <a:srgbClr val="000000"/>
                </a:solidFill>
                <a:latin typeface="Times New Roman MT Bold"/>
                <a:ea typeface="Times New Roman MT Bold"/>
                <a:cs typeface="Times New Roman MT Bold"/>
                <a:sym typeface="Times New Roman MT Bold"/>
              </a:rPr>
              <a:t>Research Paper Title:</a:t>
            </a:r>
          </a:p>
          <a:p>
            <a:pPr algn="ctr">
              <a:lnSpc>
                <a:spcPts val="3359"/>
              </a:lnSpc>
            </a:pPr>
            <a:r>
              <a:rPr lang="en-US" sz="2799">
                <a:solidFill>
                  <a:srgbClr val="000000"/>
                </a:solidFill>
                <a:latin typeface="Times New Roman MT"/>
                <a:ea typeface="Times New Roman MT"/>
                <a:cs typeface="Times New Roman MT"/>
                <a:sym typeface="Times New Roman MT"/>
              </a:rPr>
              <a:t>Hybrid Power System Simulation and Data Acquisition for Machine</a:t>
            </a:r>
          </a:p>
          <a:p>
            <a:pPr algn="ctr">
              <a:lnSpc>
                <a:spcPts val="3359"/>
              </a:lnSpc>
            </a:pPr>
            <a:r>
              <a:rPr lang="en-US" sz="2799">
                <a:solidFill>
                  <a:srgbClr val="000000"/>
                </a:solidFill>
                <a:latin typeface="Times New Roman MT"/>
                <a:ea typeface="Times New Roman MT"/>
                <a:cs typeface="Times New Roman MT"/>
                <a:sym typeface="Times New Roman MT"/>
              </a:rPr>
              <a:t>Learning-Based Performance Analysis</a:t>
            </a:r>
          </a:p>
          <a:p>
            <a:pPr algn="ctr">
              <a:lnSpc>
                <a:spcPts val="3359"/>
              </a:lnSpc>
            </a:pPr>
            <a:endParaRPr lang="en-US" sz="2799">
              <a:solidFill>
                <a:srgbClr val="000000"/>
              </a:solidFill>
              <a:latin typeface="Times New Roman MT"/>
              <a:ea typeface="Times New Roman MT"/>
              <a:cs typeface="Times New Roman MT"/>
              <a:sym typeface="Times New Roman MT"/>
            </a:endParaRPr>
          </a:p>
        </p:txBody>
      </p:sp>
      <p:sp>
        <p:nvSpPr>
          <p:cNvPr id="10" name="TextBox 10"/>
          <p:cNvSpPr txBox="1"/>
          <p:nvPr/>
        </p:nvSpPr>
        <p:spPr>
          <a:xfrm>
            <a:off x="91425" y="6353851"/>
            <a:ext cx="18105150" cy="895350"/>
          </a:xfrm>
          <a:prstGeom prst="rect">
            <a:avLst/>
          </a:prstGeom>
        </p:spPr>
        <p:txBody>
          <a:bodyPr lIns="0" tIns="0" rIns="0" bIns="0" rtlCol="0" anchor="t">
            <a:spAutoFit/>
          </a:bodyPr>
          <a:lstStyle/>
          <a:p>
            <a:pPr algn="ctr">
              <a:lnSpc>
                <a:spcPts val="3359"/>
              </a:lnSpc>
            </a:pPr>
            <a:r>
              <a:rPr lang="en-US" sz="2799" b="1">
                <a:solidFill>
                  <a:srgbClr val="000000"/>
                </a:solidFill>
                <a:latin typeface="Times New Roman MT Bold"/>
                <a:ea typeface="Times New Roman MT Bold"/>
                <a:cs typeface="Times New Roman MT Bold"/>
                <a:sym typeface="Times New Roman MT Bold"/>
              </a:rPr>
              <a:t>TRACK:</a:t>
            </a:r>
          </a:p>
          <a:p>
            <a:pPr algn="ctr">
              <a:lnSpc>
                <a:spcPts val="3359"/>
              </a:lnSpc>
            </a:pPr>
            <a:r>
              <a:rPr lang="en-US" sz="2799">
                <a:solidFill>
                  <a:srgbClr val="000000"/>
                </a:solidFill>
                <a:latin typeface="Times New Roman MT"/>
                <a:ea typeface="Times New Roman MT"/>
                <a:cs typeface="Times New Roman MT"/>
                <a:sym typeface="Times New Roman MT"/>
              </a:rPr>
              <a:t>AI Driven Solutions for Sustainable Development</a:t>
            </a:r>
          </a:p>
        </p:txBody>
      </p:sp>
      <p:sp>
        <p:nvSpPr>
          <p:cNvPr id="11" name="TextBox 11"/>
          <p:cNvSpPr txBox="1"/>
          <p:nvPr/>
        </p:nvSpPr>
        <p:spPr>
          <a:xfrm>
            <a:off x="6327925" y="1800825"/>
            <a:ext cx="5817150" cy="674700"/>
          </a:xfrm>
          <a:prstGeom prst="rect">
            <a:avLst/>
          </a:prstGeom>
        </p:spPr>
        <p:txBody>
          <a:bodyPr lIns="0" tIns="0" rIns="0" bIns="0" rtlCol="0" anchor="t">
            <a:spAutoFit/>
          </a:bodyPr>
          <a:lstStyle/>
          <a:p>
            <a:pPr algn="ctr">
              <a:lnSpc>
                <a:spcPts val="3359"/>
              </a:lnSpc>
            </a:pPr>
            <a:r>
              <a:rPr lang="en-US" sz="2799" b="1">
                <a:solidFill>
                  <a:srgbClr val="000000"/>
                </a:solidFill>
                <a:latin typeface="Times New Roman MT Bold"/>
                <a:ea typeface="Times New Roman MT Bold"/>
                <a:cs typeface="Times New Roman MT Bold"/>
                <a:sym typeface="Times New Roman MT Bold"/>
              </a:rPr>
              <a:t>AAAI Student Chapter </a:t>
            </a:r>
          </a:p>
        </p:txBody>
      </p:sp>
      <p:grpSp>
        <p:nvGrpSpPr>
          <p:cNvPr id="12" name="Group 12"/>
          <p:cNvGrpSpPr>
            <a:grpSpLocks noChangeAspect="1"/>
          </p:cNvGrpSpPr>
          <p:nvPr/>
        </p:nvGrpSpPr>
        <p:grpSpPr>
          <a:xfrm>
            <a:off x="15109450" y="337950"/>
            <a:ext cx="2031652" cy="2031652"/>
            <a:chOff x="0" y="0"/>
            <a:chExt cx="2708869" cy="2708869"/>
          </a:xfrm>
        </p:grpSpPr>
        <p:sp>
          <p:nvSpPr>
            <p:cNvPr id="13" name="Freeform 13"/>
            <p:cNvSpPr/>
            <p:nvPr/>
          </p:nvSpPr>
          <p:spPr>
            <a:xfrm>
              <a:off x="0" y="0"/>
              <a:ext cx="2708910" cy="2708910"/>
            </a:xfrm>
            <a:custGeom>
              <a:avLst/>
              <a:gdLst/>
              <a:ahLst/>
              <a:cxnLst/>
              <a:rect l="l" t="t" r="r" b="b"/>
              <a:pathLst>
                <a:path w="2708910" h="2708910">
                  <a:moveTo>
                    <a:pt x="0" y="0"/>
                  </a:moveTo>
                  <a:lnTo>
                    <a:pt x="2708910" y="0"/>
                  </a:lnTo>
                  <a:lnTo>
                    <a:pt x="2708910" y="2708910"/>
                  </a:lnTo>
                  <a:lnTo>
                    <a:pt x="0" y="2708910"/>
                  </a:lnTo>
                  <a:lnTo>
                    <a:pt x="0" y="0"/>
                  </a:lnTo>
                  <a:close/>
                </a:path>
              </a:pathLst>
            </a:custGeom>
            <a:blipFill>
              <a:blip r:embed="rId4"/>
              <a:stretch>
                <a:fillRect r="1" b="1"/>
              </a:stretch>
            </a:blipFill>
          </p:spPr>
          <p:txBody>
            <a:bodyPr/>
            <a:lstStyle/>
            <a:p>
              <a:endParaRPr lang="en-US"/>
            </a:p>
          </p:txBody>
        </p:sp>
      </p:grpSp>
      <p:sp>
        <p:nvSpPr>
          <p:cNvPr id="14" name="TextBox 14"/>
          <p:cNvSpPr txBox="1"/>
          <p:nvPr/>
        </p:nvSpPr>
        <p:spPr>
          <a:xfrm>
            <a:off x="6460075" y="7657751"/>
            <a:ext cx="5817150" cy="428579"/>
          </a:xfrm>
          <a:prstGeom prst="rect">
            <a:avLst/>
          </a:prstGeom>
        </p:spPr>
        <p:txBody>
          <a:bodyPr lIns="0" tIns="0" rIns="0" bIns="0" rtlCol="0" anchor="t">
            <a:spAutoFit/>
          </a:bodyPr>
          <a:lstStyle/>
          <a:p>
            <a:pPr algn="ctr">
              <a:lnSpc>
                <a:spcPts val="3359"/>
              </a:lnSpc>
            </a:pPr>
            <a:r>
              <a:rPr lang="en-US" sz="2799" b="1" dirty="0">
                <a:solidFill>
                  <a:srgbClr val="000000"/>
                </a:solidFill>
                <a:latin typeface="Times New Roman MT Bold"/>
                <a:ea typeface="Times New Roman MT Bold"/>
                <a:cs typeface="Times New Roman MT Bold"/>
                <a:sym typeface="Times New Roman MT Bold"/>
              </a:rPr>
              <a:t> </a:t>
            </a:r>
            <a:r>
              <a:rPr lang="en-US" sz="2799" dirty="0" err="1">
                <a:solidFill>
                  <a:srgbClr val="000000"/>
                </a:solidFill>
                <a:latin typeface="Times New Roman MT"/>
                <a:ea typeface="Times New Roman MT"/>
                <a:cs typeface="Times New Roman MT"/>
                <a:sym typeface="Times New Roman MT"/>
              </a:rPr>
              <a:t>Akhul</a:t>
            </a:r>
            <a:r>
              <a:rPr lang="en-US" sz="2799" dirty="0">
                <a:solidFill>
                  <a:srgbClr val="000000"/>
                </a:solidFill>
                <a:latin typeface="Times New Roman MT"/>
                <a:ea typeface="Times New Roman MT"/>
                <a:cs typeface="Times New Roman MT"/>
                <a:sym typeface="Times New Roman MT"/>
              </a:rPr>
              <a:t> Hegde</a:t>
            </a:r>
          </a:p>
        </p:txBody>
      </p:sp>
      <p:sp>
        <p:nvSpPr>
          <p:cNvPr id="15" name="TextBox 15"/>
          <p:cNvSpPr txBox="1"/>
          <p:nvPr/>
        </p:nvSpPr>
        <p:spPr>
          <a:xfrm>
            <a:off x="6718425" y="7179777"/>
            <a:ext cx="5685150" cy="428579"/>
          </a:xfrm>
          <a:prstGeom prst="rect">
            <a:avLst/>
          </a:prstGeom>
        </p:spPr>
        <p:txBody>
          <a:bodyPr lIns="0" tIns="0" rIns="0" bIns="0" rtlCol="0" anchor="t">
            <a:spAutoFit/>
          </a:bodyPr>
          <a:lstStyle/>
          <a:p>
            <a:pPr algn="ctr">
              <a:lnSpc>
                <a:spcPts val="3359"/>
              </a:lnSpc>
            </a:pPr>
            <a:r>
              <a:rPr lang="en-US" sz="2799" b="1" dirty="0">
                <a:solidFill>
                  <a:srgbClr val="000000"/>
                </a:solidFill>
                <a:latin typeface="Times New Roman MT Bold"/>
                <a:ea typeface="Times New Roman MT Bold"/>
                <a:cs typeface="Times New Roman MT Bold"/>
                <a:sym typeface="Times New Roman MT Bold"/>
              </a:rPr>
              <a:t> </a:t>
            </a:r>
            <a:r>
              <a:rPr lang="en-US" sz="2799" dirty="0">
                <a:solidFill>
                  <a:srgbClr val="000000"/>
                </a:solidFill>
                <a:latin typeface="Times New Roman MT"/>
                <a:ea typeface="Times New Roman MT"/>
                <a:cs typeface="Times New Roman MT"/>
                <a:sym typeface="Times New Roman MT"/>
              </a:rPr>
              <a:t>Tanish </a:t>
            </a:r>
            <a:r>
              <a:rPr lang="en-US" sz="2799" dirty="0" err="1">
                <a:solidFill>
                  <a:srgbClr val="000000"/>
                </a:solidFill>
                <a:latin typeface="Times New Roman MT"/>
                <a:ea typeface="Times New Roman MT"/>
                <a:cs typeface="Times New Roman MT"/>
                <a:sym typeface="Times New Roman MT"/>
              </a:rPr>
              <a:t>Raghwani</a:t>
            </a:r>
            <a:endParaRPr lang="en-US" sz="2799" dirty="0">
              <a:solidFill>
                <a:srgbClr val="000000"/>
              </a:solidFill>
              <a:latin typeface="Times New Roman MT"/>
              <a:ea typeface="Times New Roman MT"/>
              <a:cs typeface="Times New Roman MT"/>
              <a:sym typeface="Times New Roman MT"/>
            </a:endParaRPr>
          </a:p>
        </p:txBody>
      </p:sp>
      <p:sp>
        <p:nvSpPr>
          <p:cNvPr id="16" name="TextBox 16"/>
          <p:cNvSpPr txBox="1"/>
          <p:nvPr/>
        </p:nvSpPr>
        <p:spPr>
          <a:xfrm>
            <a:off x="6460075" y="8589151"/>
            <a:ext cx="5817150" cy="428579"/>
          </a:xfrm>
          <a:prstGeom prst="rect">
            <a:avLst/>
          </a:prstGeom>
        </p:spPr>
        <p:txBody>
          <a:bodyPr lIns="0" tIns="0" rIns="0" bIns="0" rtlCol="0" anchor="t">
            <a:spAutoFit/>
          </a:bodyPr>
          <a:lstStyle/>
          <a:p>
            <a:pPr algn="ctr">
              <a:lnSpc>
                <a:spcPts val="3359"/>
              </a:lnSpc>
            </a:pPr>
            <a:r>
              <a:rPr lang="en-US" sz="2799" b="1" dirty="0">
                <a:solidFill>
                  <a:srgbClr val="000000"/>
                </a:solidFill>
                <a:latin typeface="Times New Roman MT Bold"/>
                <a:ea typeface="Times New Roman MT Bold"/>
                <a:cs typeface="Times New Roman MT Bold"/>
                <a:sym typeface="Times New Roman MT Bold"/>
              </a:rPr>
              <a:t> </a:t>
            </a:r>
            <a:r>
              <a:rPr lang="en-US" sz="2799" dirty="0">
                <a:solidFill>
                  <a:srgbClr val="000000"/>
                </a:solidFill>
                <a:latin typeface="Times New Roman MT"/>
                <a:ea typeface="Times New Roman MT"/>
                <a:cs typeface="Times New Roman MT"/>
                <a:sym typeface="Times New Roman MT"/>
              </a:rPr>
              <a:t>Mayur Patil</a:t>
            </a:r>
          </a:p>
        </p:txBody>
      </p:sp>
      <p:sp>
        <p:nvSpPr>
          <p:cNvPr id="17" name="TextBox 17"/>
          <p:cNvSpPr txBox="1"/>
          <p:nvPr/>
        </p:nvSpPr>
        <p:spPr>
          <a:xfrm>
            <a:off x="6652425" y="8171777"/>
            <a:ext cx="5817150" cy="428579"/>
          </a:xfrm>
          <a:prstGeom prst="rect">
            <a:avLst/>
          </a:prstGeom>
        </p:spPr>
        <p:txBody>
          <a:bodyPr lIns="0" tIns="0" rIns="0" bIns="0" rtlCol="0" anchor="t">
            <a:spAutoFit/>
          </a:bodyPr>
          <a:lstStyle/>
          <a:p>
            <a:pPr algn="ctr">
              <a:lnSpc>
                <a:spcPts val="3359"/>
              </a:lnSpc>
            </a:pPr>
            <a:r>
              <a:rPr lang="en-US" sz="2799" b="1" dirty="0">
                <a:solidFill>
                  <a:srgbClr val="000000"/>
                </a:solidFill>
                <a:latin typeface="Times New Roman MT Bold"/>
                <a:ea typeface="Times New Roman MT Bold"/>
                <a:cs typeface="Times New Roman MT Bold"/>
                <a:sym typeface="Times New Roman MT Bold"/>
              </a:rPr>
              <a:t> </a:t>
            </a:r>
            <a:r>
              <a:rPr lang="en-US" sz="2799" dirty="0">
                <a:solidFill>
                  <a:srgbClr val="000000"/>
                </a:solidFill>
                <a:latin typeface="Times New Roman MT"/>
                <a:ea typeface="Times New Roman MT"/>
                <a:cs typeface="Times New Roman MT"/>
                <a:sym typeface="Times New Roman MT"/>
              </a:rPr>
              <a:t>Parth Shendkar</a:t>
            </a:r>
          </a:p>
        </p:txBody>
      </p:sp>
      <p:sp>
        <p:nvSpPr>
          <p:cNvPr id="18" name="TextBox 18"/>
          <p:cNvSpPr txBox="1"/>
          <p:nvPr/>
        </p:nvSpPr>
        <p:spPr>
          <a:xfrm>
            <a:off x="6327925" y="9351677"/>
            <a:ext cx="5817150" cy="428579"/>
          </a:xfrm>
          <a:prstGeom prst="rect">
            <a:avLst/>
          </a:prstGeom>
        </p:spPr>
        <p:txBody>
          <a:bodyPr lIns="0" tIns="0" rIns="0" bIns="0" rtlCol="0" anchor="t">
            <a:spAutoFit/>
          </a:bodyPr>
          <a:lstStyle/>
          <a:p>
            <a:pPr algn="ctr">
              <a:lnSpc>
                <a:spcPts val="3359"/>
              </a:lnSpc>
            </a:pPr>
            <a:r>
              <a:rPr lang="en-US" sz="2799" b="1" dirty="0">
                <a:solidFill>
                  <a:srgbClr val="000000"/>
                </a:solidFill>
                <a:latin typeface="Times New Roman MT Bold"/>
                <a:ea typeface="Times New Roman MT Bold"/>
                <a:cs typeface="Times New Roman MT Bold"/>
                <a:sym typeface="Times New Roman MT Bold"/>
              </a:rPr>
              <a:t>Guide: </a:t>
            </a:r>
            <a:r>
              <a:rPr lang="en-US" sz="2799" dirty="0">
                <a:solidFill>
                  <a:srgbClr val="000000"/>
                </a:solidFill>
                <a:latin typeface="Times New Roman MT"/>
                <a:ea typeface="Times New Roman MT"/>
                <a:cs typeface="Times New Roman MT"/>
                <a:sym typeface="Times New Roman MT"/>
              </a:rPr>
              <a:t>Puja Kate </a:t>
            </a:r>
            <a:r>
              <a:rPr lang="en-US" sz="2799" dirty="0" err="1">
                <a:solidFill>
                  <a:srgbClr val="000000"/>
                </a:solidFill>
                <a:latin typeface="Times New Roman MT"/>
                <a:ea typeface="Times New Roman MT"/>
                <a:cs typeface="Times New Roman MT"/>
                <a:sym typeface="Times New Roman MT"/>
              </a:rPr>
              <a:t>Pohakar</a:t>
            </a:r>
            <a:endParaRPr lang="en-US" sz="2799" dirty="0">
              <a:solidFill>
                <a:srgbClr val="000000"/>
              </a:solidFill>
              <a:latin typeface="Times New Roman MT"/>
              <a:ea typeface="Times New Roman MT"/>
              <a:cs typeface="Times New Roman MT"/>
              <a:sym typeface="Times New Roman M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554775" y="1406519"/>
            <a:ext cx="17178450" cy="1569244"/>
            <a:chOff x="0" y="0"/>
            <a:chExt cx="4524365" cy="413299"/>
          </a:xfrm>
        </p:grpSpPr>
        <p:sp>
          <p:nvSpPr>
            <p:cNvPr id="4" name="Freeform 4"/>
            <p:cNvSpPr/>
            <p:nvPr/>
          </p:nvSpPr>
          <p:spPr>
            <a:xfrm>
              <a:off x="0" y="0"/>
              <a:ext cx="4524365" cy="413299"/>
            </a:xfrm>
            <a:custGeom>
              <a:avLst/>
              <a:gdLst/>
              <a:ahLst/>
              <a:cxnLst/>
              <a:rect l="l" t="t" r="r" b="b"/>
              <a:pathLst>
                <a:path w="4524365" h="413299">
                  <a:moveTo>
                    <a:pt x="0" y="0"/>
                  </a:moveTo>
                  <a:lnTo>
                    <a:pt x="4524365" y="0"/>
                  </a:lnTo>
                  <a:lnTo>
                    <a:pt x="4524365" y="413299"/>
                  </a:lnTo>
                  <a:lnTo>
                    <a:pt x="0" y="413299"/>
                  </a:lnTo>
                  <a:close/>
                </a:path>
              </a:pathLst>
            </a:custGeom>
            <a:solidFill>
              <a:srgbClr val="3BB3D2"/>
            </a:solidFill>
          </p:spPr>
          <p:txBody>
            <a:bodyPr/>
            <a:lstStyle/>
            <a:p>
              <a:endParaRPr lang="en-US"/>
            </a:p>
          </p:txBody>
        </p:sp>
        <p:sp>
          <p:nvSpPr>
            <p:cNvPr id="5" name="TextBox 5"/>
            <p:cNvSpPr txBox="1"/>
            <p:nvPr/>
          </p:nvSpPr>
          <p:spPr>
            <a:xfrm>
              <a:off x="0" y="-85725"/>
              <a:ext cx="4524365" cy="499024"/>
            </a:xfrm>
            <a:prstGeom prst="rect">
              <a:avLst/>
            </a:prstGeom>
          </p:spPr>
          <p:txBody>
            <a:bodyPr lIns="50800" tIns="50800" rIns="50800" bIns="50800" rtlCol="0" anchor="ctr"/>
            <a:lstStyle/>
            <a:p>
              <a:pPr algn="ctr">
                <a:lnSpc>
                  <a:spcPts val="3035"/>
                </a:lnSpc>
              </a:pPr>
              <a:endParaRPr/>
            </a:p>
          </p:txBody>
        </p:sp>
      </p:grpSp>
      <p:grpSp>
        <p:nvGrpSpPr>
          <p:cNvPr id="6" name="Group 6"/>
          <p:cNvGrpSpPr/>
          <p:nvPr/>
        </p:nvGrpSpPr>
        <p:grpSpPr>
          <a:xfrm>
            <a:off x="9410445" y="4278310"/>
            <a:ext cx="3086100" cy="5188880"/>
            <a:chOff x="0" y="0"/>
            <a:chExt cx="812800" cy="1366619"/>
          </a:xfrm>
        </p:grpSpPr>
        <p:sp>
          <p:nvSpPr>
            <p:cNvPr id="7" name="Freeform 7"/>
            <p:cNvSpPr/>
            <p:nvPr/>
          </p:nvSpPr>
          <p:spPr>
            <a:xfrm>
              <a:off x="0" y="0"/>
              <a:ext cx="812800" cy="1366619"/>
            </a:xfrm>
            <a:custGeom>
              <a:avLst/>
              <a:gdLst/>
              <a:ahLst/>
              <a:cxnLst/>
              <a:rect l="l" t="t" r="r" b="b"/>
              <a:pathLst>
                <a:path w="812800" h="1366619">
                  <a:moveTo>
                    <a:pt x="127941" y="0"/>
                  </a:moveTo>
                  <a:lnTo>
                    <a:pt x="684859" y="0"/>
                  </a:lnTo>
                  <a:cubicBezTo>
                    <a:pt x="718791" y="0"/>
                    <a:pt x="751333" y="13479"/>
                    <a:pt x="775327" y="37473"/>
                  </a:cubicBezTo>
                  <a:cubicBezTo>
                    <a:pt x="799321" y="61467"/>
                    <a:pt x="812800" y="94009"/>
                    <a:pt x="812800" y="127941"/>
                  </a:cubicBezTo>
                  <a:lnTo>
                    <a:pt x="812800" y="1238678"/>
                  </a:lnTo>
                  <a:cubicBezTo>
                    <a:pt x="812800" y="1272610"/>
                    <a:pt x="799321" y="1305152"/>
                    <a:pt x="775327" y="1329146"/>
                  </a:cubicBezTo>
                  <a:cubicBezTo>
                    <a:pt x="751333" y="1353139"/>
                    <a:pt x="718791" y="1366619"/>
                    <a:pt x="684859" y="1366619"/>
                  </a:cubicBezTo>
                  <a:lnTo>
                    <a:pt x="127941" y="1366619"/>
                  </a:lnTo>
                  <a:cubicBezTo>
                    <a:pt x="94009" y="1366619"/>
                    <a:pt x="61467" y="1353139"/>
                    <a:pt x="37473" y="1329146"/>
                  </a:cubicBezTo>
                  <a:cubicBezTo>
                    <a:pt x="13479" y="1305152"/>
                    <a:pt x="0" y="1272610"/>
                    <a:pt x="0" y="1238678"/>
                  </a:cubicBezTo>
                  <a:lnTo>
                    <a:pt x="0" y="127941"/>
                  </a:lnTo>
                  <a:cubicBezTo>
                    <a:pt x="0" y="94009"/>
                    <a:pt x="13479" y="61467"/>
                    <a:pt x="37473" y="37473"/>
                  </a:cubicBezTo>
                  <a:cubicBezTo>
                    <a:pt x="61467" y="13479"/>
                    <a:pt x="94009" y="0"/>
                    <a:pt x="127941" y="0"/>
                  </a:cubicBezTo>
                  <a:close/>
                </a:path>
              </a:pathLst>
            </a:custGeom>
            <a:solidFill>
              <a:srgbClr val="3BB3D2"/>
            </a:solidFill>
          </p:spPr>
          <p:txBody>
            <a:bodyPr/>
            <a:lstStyle/>
            <a:p>
              <a:endParaRPr lang="en-US"/>
            </a:p>
          </p:txBody>
        </p:sp>
        <p:sp>
          <p:nvSpPr>
            <p:cNvPr id="8" name="TextBox 8"/>
            <p:cNvSpPr txBox="1"/>
            <p:nvPr/>
          </p:nvSpPr>
          <p:spPr>
            <a:xfrm>
              <a:off x="0" y="-85725"/>
              <a:ext cx="812800" cy="1452344"/>
            </a:xfrm>
            <a:prstGeom prst="rect">
              <a:avLst/>
            </a:prstGeom>
          </p:spPr>
          <p:txBody>
            <a:bodyPr lIns="50800" tIns="50800" rIns="50800" bIns="50800" rtlCol="0" anchor="ctr"/>
            <a:lstStyle/>
            <a:p>
              <a:pPr algn="ctr">
                <a:lnSpc>
                  <a:spcPts val="3035"/>
                </a:lnSpc>
              </a:pPr>
              <a:endParaRPr/>
            </a:p>
          </p:txBody>
        </p:sp>
      </p:grpSp>
      <p:grpSp>
        <p:nvGrpSpPr>
          <p:cNvPr id="9" name="Group 9"/>
          <p:cNvGrpSpPr/>
          <p:nvPr/>
        </p:nvGrpSpPr>
        <p:grpSpPr>
          <a:xfrm>
            <a:off x="13839570" y="4278310"/>
            <a:ext cx="3086100" cy="5188880"/>
            <a:chOff x="0" y="0"/>
            <a:chExt cx="812800" cy="1366619"/>
          </a:xfrm>
        </p:grpSpPr>
        <p:sp>
          <p:nvSpPr>
            <p:cNvPr id="10" name="Freeform 10"/>
            <p:cNvSpPr/>
            <p:nvPr/>
          </p:nvSpPr>
          <p:spPr>
            <a:xfrm>
              <a:off x="0" y="0"/>
              <a:ext cx="812800" cy="1366619"/>
            </a:xfrm>
            <a:custGeom>
              <a:avLst/>
              <a:gdLst/>
              <a:ahLst/>
              <a:cxnLst/>
              <a:rect l="l" t="t" r="r" b="b"/>
              <a:pathLst>
                <a:path w="812800" h="1366619">
                  <a:moveTo>
                    <a:pt x="127941" y="0"/>
                  </a:moveTo>
                  <a:lnTo>
                    <a:pt x="684859" y="0"/>
                  </a:lnTo>
                  <a:cubicBezTo>
                    <a:pt x="718791" y="0"/>
                    <a:pt x="751333" y="13479"/>
                    <a:pt x="775327" y="37473"/>
                  </a:cubicBezTo>
                  <a:cubicBezTo>
                    <a:pt x="799321" y="61467"/>
                    <a:pt x="812800" y="94009"/>
                    <a:pt x="812800" y="127941"/>
                  </a:cubicBezTo>
                  <a:lnTo>
                    <a:pt x="812800" y="1238678"/>
                  </a:lnTo>
                  <a:cubicBezTo>
                    <a:pt x="812800" y="1272610"/>
                    <a:pt x="799321" y="1305152"/>
                    <a:pt x="775327" y="1329146"/>
                  </a:cubicBezTo>
                  <a:cubicBezTo>
                    <a:pt x="751333" y="1353139"/>
                    <a:pt x="718791" y="1366619"/>
                    <a:pt x="684859" y="1366619"/>
                  </a:cubicBezTo>
                  <a:lnTo>
                    <a:pt x="127941" y="1366619"/>
                  </a:lnTo>
                  <a:cubicBezTo>
                    <a:pt x="94009" y="1366619"/>
                    <a:pt x="61467" y="1353139"/>
                    <a:pt x="37473" y="1329146"/>
                  </a:cubicBezTo>
                  <a:cubicBezTo>
                    <a:pt x="13479" y="1305152"/>
                    <a:pt x="0" y="1272610"/>
                    <a:pt x="0" y="1238678"/>
                  </a:cubicBezTo>
                  <a:lnTo>
                    <a:pt x="0" y="127941"/>
                  </a:lnTo>
                  <a:cubicBezTo>
                    <a:pt x="0" y="94009"/>
                    <a:pt x="13479" y="61467"/>
                    <a:pt x="37473" y="37473"/>
                  </a:cubicBezTo>
                  <a:cubicBezTo>
                    <a:pt x="61467" y="13479"/>
                    <a:pt x="94009" y="0"/>
                    <a:pt x="127941" y="0"/>
                  </a:cubicBezTo>
                  <a:close/>
                </a:path>
              </a:pathLst>
            </a:custGeom>
            <a:solidFill>
              <a:srgbClr val="3BB3D2"/>
            </a:solidFill>
          </p:spPr>
          <p:txBody>
            <a:bodyPr/>
            <a:lstStyle/>
            <a:p>
              <a:endParaRPr lang="en-US"/>
            </a:p>
          </p:txBody>
        </p:sp>
        <p:sp>
          <p:nvSpPr>
            <p:cNvPr id="11" name="TextBox 11"/>
            <p:cNvSpPr txBox="1"/>
            <p:nvPr/>
          </p:nvSpPr>
          <p:spPr>
            <a:xfrm>
              <a:off x="0" y="-85725"/>
              <a:ext cx="812800" cy="1452344"/>
            </a:xfrm>
            <a:prstGeom prst="rect">
              <a:avLst/>
            </a:prstGeom>
          </p:spPr>
          <p:txBody>
            <a:bodyPr lIns="50800" tIns="50800" rIns="50800" bIns="50800" rtlCol="0" anchor="ctr"/>
            <a:lstStyle/>
            <a:p>
              <a:pPr algn="ctr">
                <a:lnSpc>
                  <a:spcPts val="3035"/>
                </a:lnSpc>
              </a:pPr>
              <a:endParaRPr/>
            </a:p>
          </p:txBody>
        </p:sp>
      </p:grpSp>
      <p:grpSp>
        <p:nvGrpSpPr>
          <p:cNvPr id="12" name="Group 12"/>
          <p:cNvGrpSpPr/>
          <p:nvPr/>
        </p:nvGrpSpPr>
        <p:grpSpPr>
          <a:xfrm>
            <a:off x="4982610" y="4278310"/>
            <a:ext cx="3086100" cy="5188880"/>
            <a:chOff x="0" y="0"/>
            <a:chExt cx="812800" cy="1366619"/>
          </a:xfrm>
        </p:grpSpPr>
        <p:sp>
          <p:nvSpPr>
            <p:cNvPr id="13" name="Freeform 13"/>
            <p:cNvSpPr/>
            <p:nvPr/>
          </p:nvSpPr>
          <p:spPr>
            <a:xfrm>
              <a:off x="0" y="0"/>
              <a:ext cx="812800" cy="1366619"/>
            </a:xfrm>
            <a:custGeom>
              <a:avLst/>
              <a:gdLst/>
              <a:ahLst/>
              <a:cxnLst/>
              <a:rect l="l" t="t" r="r" b="b"/>
              <a:pathLst>
                <a:path w="812800" h="1366619">
                  <a:moveTo>
                    <a:pt x="127941" y="0"/>
                  </a:moveTo>
                  <a:lnTo>
                    <a:pt x="684859" y="0"/>
                  </a:lnTo>
                  <a:cubicBezTo>
                    <a:pt x="718791" y="0"/>
                    <a:pt x="751333" y="13479"/>
                    <a:pt x="775327" y="37473"/>
                  </a:cubicBezTo>
                  <a:cubicBezTo>
                    <a:pt x="799321" y="61467"/>
                    <a:pt x="812800" y="94009"/>
                    <a:pt x="812800" y="127941"/>
                  </a:cubicBezTo>
                  <a:lnTo>
                    <a:pt x="812800" y="1238678"/>
                  </a:lnTo>
                  <a:cubicBezTo>
                    <a:pt x="812800" y="1272610"/>
                    <a:pt x="799321" y="1305152"/>
                    <a:pt x="775327" y="1329146"/>
                  </a:cubicBezTo>
                  <a:cubicBezTo>
                    <a:pt x="751333" y="1353139"/>
                    <a:pt x="718791" y="1366619"/>
                    <a:pt x="684859" y="1366619"/>
                  </a:cubicBezTo>
                  <a:lnTo>
                    <a:pt x="127941" y="1366619"/>
                  </a:lnTo>
                  <a:cubicBezTo>
                    <a:pt x="94009" y="1366619"/>
                    <a:pt x="61467" y="1353139"/>
                    <a:pt x="37473" y="1329146"/>
                  </a:cubicBezTo>
                  <a:cubicBezTo>
                    <a:pt x="13479" y="1305152"/>
                    <a:pt x="0" y="1272610"/>
                    <a:pt x="0" y="1238678"/>
                  </a:cubicBezTo>
                  <a:lnTo>
                    <a:pt x="0" y="127941"/>
                  </a:lnTo>
                  <a:cubicBezTo>
                    <a:pt x="0" y="94009"/>
                    <a:pt x="13479" y="61467"/>
                    <a:pt x="37473" y="37473"/>
                  </a:cubicBezTo>
                  <a:cubicBezTo>
                    <a:pt x="61467" y="13479"/>
                    <a:pt x="94009" y="0"/>
                    <a:pt x="127941" y="0"/>
                  </a:cubicBezTo>
                  <a:close/>
                </a:path>
              </a:pathLst>
            </a:custGeom>
            <a:solidFill>
              <a:srgbClr val="3BB3D2"/>
            </a:solidFill>
          </p:spPr>
          <p:txBody>
            <a:bodyPr/>
            <a:lstStyle/>
            <a:p>
              <a:endParaRPr lang="en-US"/>
            </a:p>
          </p:txBody>
        </p:sp>
        <p:sp>
          <p:nvSpPr>
            <p:cNvPr id="14" name="TextBox 14"/>
            <p:cNvSpPr txBox="1"/>
            <p:nvPr/>
          </p:nvSpPr>
          <p:spPr>
            <a:xfrm>
              <a:off x="0" y="-85725"/>
              <a:ext cx="812800" cy="1452344"/>
            </a:xfrm>
            <a:prstGeom prst="rect">
              <a:avLst/>
            </a:prstGeom>
          </p:spPr>
          <p:txBody>
            <a:bodyPr lIns="50800" tIns="50800" rIns="50800" bIns="50800" rtlCol="0" anchor="ctr"/>
            <a:lstStyle/>
            <a:p>
              <a:pPr algn="ctr">
                <a:lnSpc>
                  <a:spcPts val="3035"/>
                </a:lnSpc>
              </a:pPr>
              <a:endParaRPr/>
            </a:p>
          </p:txBody>
        </p:sp>
      </p:grpSp>
      <p:grpSp>
        <p:nvGrpSpPr>
          <p:cNvPr id="15" name="Group 15"/>
          <p:cNvGrpSpPr/>
          <p:nvPr/>
        </p:nvGrpSpPr>
        <p:grpSpPr>
          <a:xfrm>
            <a:off x="554775" y="4278310"/>
            <a:ext cx="3086100" cy="5188880"/>
            <a:chOff x="0" y="0"/>
            <a:chExt cx="812800" cy="1366619"/>
          </a:xfrm>
        </p:grpSpPr>
        <p:sp>
          <p:nvSpPr>
            <p:cNvPr id="16" name="Freeform 16"/>
            <p:cNvSpPr/>
            <p:nvPr/>
          </p:nvSpPr>
          <p:spPr>
            <a:xfrm>
              <a:off x="0" y="0"/>
              <a:ext cx="812800" cy="1366619"/>
            </a:xfrm>
            <a:custGeom>
              <a:avLst/>
              <a:gdLst/>
              <a:ahLst/>
              <a:cxnLst/>
              <a:rect l="l" t="t" r="r" b="b"/>
              <a:pathLst>
                <a:path w="812800" h="1366619">
                  <a:moveTo>
                    <a:pt x="127941" y="0"/>
                  </a:moveTo>
                  <a:lnTo>
                    <a:pt x="684859" y="0"/>
                  </a:lnTo>
                  <a:cubicBezTo>
                    <a:pt x="718791" y="0"/>
                    <a:pt x="751333" y="13479"/>
                    <a:pt x="775327" y="37473"/>
                  </a:cubicBezTo>
                  <a:cubicBezTo>
                    <a:pt x="799321" y="61467"/>
                    <a:pt x="812800" y="94009"/>
                    <a:pt x="812800" y="127941"/>
                  </a:cubicBezTo>
                  <a:lnTo>
                    <a:pt x="812800" y="1238678"/>
                  </a:lnTo>
                  <a:cubicBezTo>
                    <a:pt x="812800" y="1272610"/>
                    <a:pt x="799321" y="1305152"/>
                    <a:pt x="775327" y="1329146"/>
                  </a:cubicBezTo>
                  <a:cubicBezTo>
                    <a:pt x="751333" y="1353139"/>
                    <a:pt x="718791" y="1366619"/>
                    <a:pt x="684859" y="1366619"/>
                  </a:cubicBezTo>
                  <a:lnTo>
                    <a:pt x="127941" y="1366619"/>
                  </a:lnTo>
                  <a:cubicBezTo>
                    <a:pt x="94009" y="1366619"/>
                    <a:pt x="61467" y="1353139"/>
                    <a:pt x="37473" y="1329146"/>
                  </a:cubicBezTo>
                  <a:cubicBezTo>
                    <a:pt x="13479" y="1305152"/>
                    <a:pt x="0" y="1272610"/>
                    <a:pt x="0" y="1238678"/>
                  </a:cubicBezTo>
                  <a:lnTo>
                    <a:pt x="0" y="127941"/>
                  </a:lnTo>
                  <a:cubicBezTo>
                    <a:pt x="0" y="94009"/>
                    <a:pt x="13479" y="61467"/>
                    <a:pt x="37473" y="37473"/>
                  </a:cubicBezTo>
                  <a:cubicBezTo>
                    <a:pt x="61467" y="13479"/>
                    <a:pt x="94009" y="0"/>
                    <a:pt x="127941" y="0"/>
                  </a:cubicBezTo>
                  <a:close/>
                </a:path>
              </a:pathLst>
            </a:custGeom>
            <a:solidFill>
              <a:srgbClr val="3BB3D2"/>
            </a:solidFill>
          </p:spPr>
          <p:txBody>
            <a:bodyPr/>
            <a:lstStyle/>
            <a:p>
              <a:endParaRPr lang="en-US"/>
            </a:p>
          </p:txBody>
        </p:sp>
        <p:sp>
          <p:nvSpPr>
            <p:cNvPr id="17" name="TextBox 17"/>
            <p:cNvSpPr txBox="1"/>
            <p:nvPr/>
          </p:nvSpPr>
          <p:spPr>
            <a:xfrm>
              <a:off x="0" y="-85725"/>
              <a:ext cx="812800" cy="1452344"/>
            </a:xfrm>
            <a:prstGeom prst="rect">
              <a:avLst/>
            </a:prstGeom>
          </p:spPr>
          <p:txBody>
            <a:bodyPr lIns="50800" tIns="50800" rIns="50800" bIns="50800" rtlCol="0" anchor="ctr"/>
            <a:lstStyle/>
            <a:p>
              <a:pPr algn="ctr">
                <a:lnSpc>
                  <a:spcPts val="3035"/>
                </a:lnSpc>
              </a:pPr>
              <a:endParaRPr/>
            </a:p>
          </p:txBody>
        </p:sp>
      </p:grpSp>
      <p:sp>
        <p:nvSpPr>
          <p:cNvPr id="18" name="TextBox 18"/>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19" name="TextBox 19"/>
          <p:cNvSpPr txBox="1"/>
          <p:nvPr/>
        </p:nvSpPr>
        <p:spPr>
          <a:xfrm>
            <a:off x="15205725" y="9597750"/>
            <a:ext cx="2426550" cy="381000"/>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1</a:t>
            </a:r>
          </a:p>
        </p:txBody>
      </p:sp>
      <p:sp>
        <p:nvSpPr>
          <p:cNvPr id="20" name="TextBox 20"/>
          <p:cNvSpPr txBox="1"/>
          <p:nvPr/>
        </p:nvSpPr>
        <p:spPr>
          <a:xfrm>
            <a:off x="612525" y="681037"/>
            <a:ext cx="17019750" cy="619125"/>
          </a:xfrm>
          <a:prstGeom prst="rect">
            <a:avLst/>
          </a:prstGeom>
        </p:spPr>
        <p:txBody>
          <a:bodyPr lIns="0" tIns="0" rIns="0" bIns="0" rtlCol="0" anchor="t">
            <a:spAutoFit/>
          </a:bodyPr>
          <a:lstStyle/>
          <a:p>
            <a:pPr algn="l">
              <a:lnSpc>
                <a:spcPts val="4320"/>
              </a:lnSpc>
            </a:pPr>
            <a:r>
              <a:rPr lang="en-US" sz="3600" b="1">
                <a:solidFill>
                  <a:srgbClr val="000000"/>
                </a:solidFill>
                <a:latin typeface="Times New Roman MT Bold"/>
                <a:ea typeface="Times New Roman MT Bold"/>
                <a:cs typeface="Times New Roman MT Bold"/>
                <a:sym typeface="Times New Roman MT Bold"/>
              </a:rPr>
              <a:t>Problem Statement</a:t>
            </a:r>
          </a:p>
        </p:txBody>
      </p:sp>
      <p:sp>
        <p:nvSpPr>
          <p:cNvPr id="21" name="TextBox 21"/>
          <p:cNvSpPr txBox="1"/>
          <p:nvPr/>
        </p:nvSpPr>
        <p:spPr>
          <a:xfrm>
            <a:off x="453825" y="1525956"/>
            <a:ext cx="17178450" cy="1314450"/>
          </a:xfrm>
          <a:prstGeom prst="rect">
            <a:avLst/>
          </a:prstGeom>
        </p:spPr>
        <p:txBody>
          <a:bodyPr lIns="0" tIns="0" rIns="0" bIns="0" rtlCol="0" anchor="t">
            <a:spAutoFit/>
          </a:bodyPr>
          <a:lstStyle/>
          <a:p>
            <a:pPr algn="ctr">
              <a:lnSpc>
                <a:spcPts val="3359"/>
              </a:lnSpc>
              <a:spcBef>
                <a:spcPct val="0"/>
              </a:spcBef>
            </a:pPr>
            <a:r>
              <a:rPr lang="en-US" sz="2799">
                <a:solidFill>
                  <a:srgbClr val="000000"/>
                </a:solidFill>
                <a:latin typeface="Times New Roman MT"/>
                <a:ea typeface="Times New Roman MT"/>
                <a:cs typeface="Times New Roman MT"/>
                <a:sym typeface="Times New Roman MT"/>
              </a:rPr>
              <a:t>While solar and wind energy are clean sources of energy, intermittent generation means they cannot be relied on to produce constant voltage and power output. The integration of solar, wind, and battery storage into a hybrid system is necessary to deliver stable, reliable, efficient, and cost-effective power supply stability. </a:t>
            </a:r>
          </a:p>
        </p:txBody>
      </p:sp>
      <p:sp>
        <p:nvSpPr>
          <p:cNvPr id="22" name="TextBox 22"/>
          <p:cNvSpPr txBox="1"/>
          <p:nvPr/>
        </p:nvSpPr>
        <p:spPr>
          <a:xfrm>
            <a:off x="142558" y="3170954"/>
            <a:ext cx="1974890" cy="619125"/>
          </a:xfrm>
          <a:prstGeom prst="rect">
            <a:avLst/>
          </a:prstGeom>
        </p:spPr>
        <p:txBody>
          <a:bodyPr lIns="0" tIns="0" rIns="0" bIns="0" rtlCol="0" anchor="t">
            <a:spAutoFit/>
          </a:bodyPr>
          <a:lstStyle/>
          <a:p>
            <a:pPr algn="ctr">
              <a:lnSpc>
                <a:spcPts val="4319"/>
              </a:lnSpc>
              <a:spcBef>
                <a:spcPct val="0"/>
              </a:spcBef>
            </a:pPr>
            <a:r>
              <a:rPr lang="en-US" sz="3599" b="1" dirty="0">
                <a:solidFill>
                  <a:srgbClr val="000000"/>
                </a:solidFill>
                <a:latin typeface="Times New Roman MT Bold"/>
                <a:ea typeface="Times New Roman MT Bold"/>
                <a:cs typeface="Times New Roman MT Bold"/>
                <a:sym typeface="Times New Roman MT Bold"/>
              </a:rPr>
              <a:t>Key Issues</a:t>
            </a:r>
          </a:p>
        </p:txBody>
      </p:sp>
      <p:sp>
        <p:nvSpPr>
          <p:cNvPr id="23" name="TextBox 23"/>
          <p:cNvSpPr txBox="1"/>
          <p:nvPr/>
        </p:nvSpPr>
        <p:spPr>
          <a:xfrm>
            <a:off x="804004" y="4497385"/>
            <a:ext cx="2626889" cy="4243851"/>
          </a:xfrm>
          <a:prstGeom prst="rect">
            <a:avLst/>
          </a:prstGeom>
        </p:spPr>
        <p:txBody>
          <a:bodyPr lIns="0" tIns="0" rIns="0" bIns="0" rtlCol="0" anchor="t">
            <a:spAutoFit/>
          </a:bodyPr>
          <a:lstStyle/>
          <a:p>
            <a:pPr algn="ctr">
              <a:lnSpc>
                <a:spcPts val="3709"/>
              </a:lnSpc>
              <a:spcBef>
                <a:spcPct val="0"/>
              </a:spcBef>
            </a:pPr>
            <a:r>
              <a:rPr lang="en-US" sz="2688" i="1">
                <a:solidFill>
                  <a:srgbClr val="000000"/>
                </a:solidFill>
                <a:latin typeface="Times New Roman MT Italics"/>
                <a:ea typeface="Times New Roman MT Italics"/>
                <a:cs typeface="Times New Roman MT Italics"/>
                <a:sym typeface="Times New Roman MT Italics"/>
              </a:rPr>
              <a:t>Solar energy and wind energy are considered intermittent resources because they cannot provide a continuous supply on their own.</a:t>
            </a:r>
          </a:p>
        </p:txBody>
      </p:sp>
      <p:sp>
        <p:nvSpPr>
          <p:cNvPr id="24" name="TextBox 24"/>
          <p:cNvSpPr txBox="1"/>
          <p:nvPr/>
        </p:nvSpPr>
        <p:spPr>
          <a:xfrm>
            <a:off x="5356288" y="4497385"/>
            <a:ext cx="2338745" cy="4412742"/>
          </a:xfrm>
          <a:prstGeom prst="rect">
            <a:avLst/>
          </a:prstGeom>
        </p:spPr>
        <p:txBody>
          <a:bodyPr lIns="0" tIns="0" rIns="0" bIns="0" rtlCol="0" anchor="t">
            <a:spAutoFit/>
          </a:bodyPr>
          <a:lstStyle/>
          <a:p>
            <a:pPr algn="ctr">
              <a:lnSpc>
                <a:spcPts val="3863"/>
              </a:lnSpc>
              <a:spcBef>
                <a:spcPct val="0"/>
              </a:spcBef>
            </a:pPr>
            <a:r>
              <a:rPr lang="en-US" sz="2799" i="1">
                <a:solidFill>
                  <a:srgbClr val="000000"/>
                </a:solidFill>
                <a:latin typeface="Times New Roman MT Italics"/>
                <a:ea typeface="Times New Roman MT Italics"/>
                <a:cs typeface="Times New Roman MT Italics"/>
                <a:sym typeface="Times New Roman MT Italics"/>
              </a:rPr>
              <a:t>Power delivery and voltage will become unstable and quality will deteriorate with variability from renewable resources.</a:t>
            </a:r>
          </a:p>
        </p:txBody>
      </p:sp>
      <p:sp>
        <p:nvSpPr>
          <p:cNvPr id="25" name="TextBox 25"/>
          <p:cNvSpPr txBox="1"/>
          <p:nvPr/>
        </p:nvSpPr>
        <p:spPr>
          <a:xfrm>
            <a:off x="9783210" y="5160515"/>
            <a:ext cx="2338745" cy="3076956"/>
          </a:xfrm>
          <a:prstGeom prst="rect">
            <a:avLst/>
          </a:prstGeom>
        </p:spPr>
        <p:txBody>
          <a:bodyPr lIns="0" tIns="0" rIns="0" bIns="0" rtlCol="0" anchor="t">
            <a:spAutoFit/>
          </a:bodyPr>
          <a:lstStyle/>
          <a:p>
            <a:pPr algn="ctr">
              <a:lnSpc>
                <a:spcPts val="4001"/>
              </a:lnSpc>
              <a:spcBef>
                <a:spcPct val="0"/>
              </a:spcBef>
            </a:pPr>
            <a:r>
              <a:rPr lang="en-US" sz="2899" i="1">
                <a:solidFill>
                  <a:srgbClr val="000000"/>
                </a:solidFill>
                <a:latin typeface="Times New Roman MT Italics"/>
                <a:ea typeface="Times New Roman MT Italics"/>
                <a:cs typeface="Times New Roman MT Italics"/>
                <a:sym typeface="Times New Roman MT Italics"/>
              </a:rPr>
              <a:t>An abundance of renewable energy will be wasted due to inadequate storage.</a:t>
            </a:r>
          </a:p>
        </p:txBody>
      </p:sp>
      <p:sp>
        <p:nvSpPr>
          <p:cNvPr id="26" name="TextBox 26"/>
          <p:cNvSpPr txBox="1"/>
          <p:nvPr/>
        </p:nvSpPr>
        <p:spPr>
          <a:xfrm>
            <a:off x="14213248" y="4613991"/>
            <a:ext cx="2338745" cy="4412742"/>
          </a:xfrm>
          <a:prstGeom prst="rect">
            <a:avLst/>
          </a:prstGeom>
        </p:spPr>
        <p:txBody>
          <a:bodyPr lIns="0" tIns="0" rIns="0" bIns="0" rtlCol="0" anchor="t">
            <a:spAutoFit/>
          </a:bodyPr>
          <a:lstStyle/>
          <a:p>
            <a:pPr algn="ctr">
              <a:lnSpc>
                <a:spcPts val="3863"/>
              </a:lnSpc>
              <a:spcBef>
                <a:spcPct val="0"/>
              </a:spcBef>
            </a:pPr>
            <a:r>
              <a:rPr lang="en-US" sz="2799" i="1">
                <a:solidFill>
                  <a:srgbClr val="000000"/>
                </a:solidFill>
                <a:latin typeface="Times New Roman MT Italics"/>
                <a:ea typeface="Times New Roman MT Italics"/>
                <a:cs typeface="Times New Roman MT Italics"/>
                <a:sym typeface="Times New Roman MT Italics"/>
              </a:rPr>
              <a:t>Remote and rural locations will experience unreliable electricity supply without hybrid renewable energy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554775" y="6911632"/>
            <a:ext cx="11221115" cy="2199634"/>
            <a:chOff x="0" y="0"/>
            <a:chExt cx="2955355" cy="579327"/>
          </a:xfrm>
        </p:grpSpPr>
        <p:sp>
          <p:nvSpPr>
            <p:cNvPr id="4" name="Freeform 4"/>
            <p:cNvSpPr/>
            <p:nvPr/>
          </p:nvSpPr>
          <p:spPr>
            <a:xfrm>
              <a:off x="0" y="0"/>
              <a:ext cx="2955355" cy="579327"/>
            </a:xfrm>
            <a:custGeom>
              <a:avLst/>
              <a:gdLst/>
              <a:ahLst/>
              <a:cxnLst/>
              <a:rect l="l" t="t" r="r" b="b"/>
              <a:pathLst>
                <a:path w="2955355" h="579327">
                  <a:moveTo>
                    <a:pt x="35187" y="0"/>
                  </a:moveTo>
                  <a:lnTo>
                    <a:pt x="2920168" y="0"/>
                  </a:lnTo>
                  <a:cubicBezTo>
                    <a:pt x="2939602" y="0"/>
                    <a:pt x="2955355" y="15754"/>
                    <a:pt x="2955355" y="35187"/>
                  </a:cubicBezTo>
                  <a:lnTo>
                    <a:pt x="2955355" y="544140"/>
                  </a:lnTo>
                  <a:cubicBezTo>
                    <a:pt x="2955355" y="563574"/>
                    <a:pt x="2939602" y="579327"/>
                    <a:pt x="2920168" y="579327"/>
                  </a:cubicBezTo>
                  <a:lnTo>
                    <a:pt x="35187" y="579327"/>
                  </a:lnTo>
                  <a:cubicBezTo>
                    <a:pt x="25855" y="579327"/>
                    <a:pt x="16905" y="575620"/>
                    <a:pt x="10306" y="569021"/>
                  </a:cubicBezTo>
                  <a:cubicBezTo>
                    <a:pt x="3707" y="562423"/>
                    <a:pt x="0" y="553473"/>
                    <a:pt x="0" y="544140"/>
                  </a:cubicBezTo>
                  <a:lnTo>
                    <a:pt x="0" y="35187"/>
                  </a:lnTo>
                  <a:cubicBezTo>
                    <a:pt x="0" y="15754"/>
                    <a:pt x="15754" y="0"/>
                    <a:pt x="35187" y="0"/>
                  </a:cubicBezTo>
                  <a:close/>
                </a:path>
              </a:pathLst>
            </a:custGeom>
            <a:solidFill>
              <a:srgbClr val="3BB3D2"/>
            </a:solidFill>
          </p:spPr>
          <p:txBody>
            <a:bodyPr/>
            <a:lstStyle/>
            <a:p>
              <a:endParaRPr lang="en-US"/>
            </a:p>
          </p:txBody>
        </p:sp>
        <p:sp>
          <p:nvSpPr>
            <p:cNvPr id="5" name="TextBox 5"/>
            <p:cNvSpPr txBox="1"/>
            <p:nvPr/>
          </p:nvSpPr>
          <p:spPr>
            <a:xfrm>
              <a:off x="0" y="-85725"/>
              <a:ext cx="2955355" cy="665052"/>
            </a:xfrm>
            <a:prstGeom prst="rect">
              <a:avLst/>
            </a:prstGeom>
          </p:spPr>
          <p:txBody>
            <a:bodyPr lIns="50800" tIns="50800" rIns="50800" bIns="50800" rtlCol="0" anchor="ctr"/>
            <a:lstStyle/>
            <a:p>
              <a:pPr algn="ctr">
                <a:lnSpc>
                  <a:spcPts val="3035"/>
                </a:lnSpc>
              </a:pPr>
              <a:endParaRPr/>
            </a:p>
          </p:txBody>
        </p:sp>
      </p:grpSp>
      <p:grpSp>
        <p:nvGrpSpPr>
          <p:cNvPr id="6" name="Group 6"/>
          <p:cNvGrpSpPr/>
          <p:nvPr/>
        </p:nvGrpSpPr>
        <p:grpSpPr>
          <a:xfrm>
            <a:off x="544206" y="4114097"/>
            <a:ext cx="11221115" cy="2199634"/>
            <a:chOff x="0" y="0"/>
            <a:chExt cx="2955355" cy="579327"/>
          </a:xfrm>
        </p:grpSpPr>
        <p:sp>
          <p:nvSpPr>
            <p:cNvPr id="7" name="Freeform 7"/>
            <p:cNvSpPr/>
            <p:nvPr/>
          </p:nvSpPr>
          <p:spPr>
            <a:xfrm>
              <a:off x="0" y="0"/>
              <a:ext cx="2955355" cy="579327"/>
            </a:xfrm>
            <a:custGeom>
              <a:avLst/>
              <a:gdLst/>
              <a:ahLst/>
              <a:cxnLst/>
              <a:rect l="l" t="t" r="r" b="b"/>
              <a:pathLst>
                <a:path w="2955355" h="579327">
                  <a:moveTo>
                    <a:pt x="35187" y="0"/>
                  </a:moveTo>
                  <a:lnTo>
                    <a:pt x="2920168" y="0"/>
                  </a:lnTo>
                  <a:cubicBezTo>
                    <a:pt x="2939602" y="0"/>
                    <a:pt x="2955355" y="15754"/>
                    <a:pt x="2955355" y="35187"/>
                  </a:cubicBezTo>
                  <a:lnTo>
                    <a:pt x="2955355" y="544140"/>
                  </a:lnTo>
                  <a:cubicBezTo>
                    <a:pt x="2955355" y="563574"/>
                    <a:pt x="2939602" y="579327"/>
                    <a:pt x="2920168" y="579327"/>
                  </a:cubicBezTo>
                  <a:lnTo>
                    <a:pt x="35187" y="579327"/>
                  </a:lnTo>
                  <a:cubicBezTo>
                    <a:pt x="25855" y="579327"/>
                    <a:pt x="16905" y="575620"/>
                    <a:pt x="10306" y="569021"/>
                  </a:cubicBezTo>
                  <a:cubicBezTo>
                    <a:pt x="3707" y="562423"/>
                    <a:pt x="0" y="553473"/>
                    <a:pt x="0" y="544140"/>
                  </a:cubicBezTo>
                  <a:lnTo>
                    <a:pt x="0" y="35187"/>
                  </a:lnTo>
                  <a:cubicBezTo>
                    <a:pt x="0" y="15754"/>
                    <a:pt x="15754" y="0"/>
                    <a:pt x="35187" y="0"/>
                  </a:cubicBezTo>
                  <a:close/>
                </a:path>
              </a:pathLst>
            </a:custGeom>
            <a:solidFill>
              <a:srgbClr val="3BB3D2"/>
            </a:solidFill>
          </p:spPr>
          <p:txBody>
            <a:bodyPr/>
            <a:lstStyle/>
            <a:p>
              <a:endParaRPr lang="en-US"/>
            </a:p>
          </p:txBody>
        </p:sp>
        <p:sp>
          <p:nvSpPr>
            <p:cNvPr id="8" name="TextBox 8"/>
            <p:cNvSpPr txBox="1"/>
            <p:nvPr/>
          </p:nvSpPr>
          <p:spPr>
            <a:xfrm>
              <a:off x="0" y="-85725"/>
              <a:ext cx="2955355" cy="665052"/>
            </a:xfrm>
            <a:prstGeom prst="rect">
              <a:avLst/>
            </a:prstGeom>
          </p:spPr>
          <p:txBody>
            <a:bodyPr lIns="50800" tIns="50800" rIns="50800" bIns="50800" rtlCol="0" anchor="ctr"/>
            <a:lstStyle/>
            <a:p>
              <a:pPr algn="ctr">
                <a:lnSpc>
                  <a:spcPts val="3035"/>
                </a:lnSpc>
              </a:pPr>
              <a:endParaRPr/>
            </a:p>
          </p:txBody>
        </p:sp>
      </p:grpSp>
      <p:grpSp>
        <p:nvGrpSpPr>
          <p:cNvPr id="9" name="Group 9"/>
          <p:cNvGrpSpPr/>
          <p:nvPr/>
        </p:nvGrpSpPr>
        <p:grpSpPr>
          <a:xfrm>
            <a:off x="554775" y="1312232"/>
            <a:ext cx="11221115" cy="2203964"/>
            <a:chOff x="0" y="0"/>
            <a:chExt cx="2955355" cy="580468"/>
          </a:xfrm>
        </p:grpSpPr>
        <p:sp>
          <p:nvSpPr>
            <p:cNvPr id="10" name="Freeform 10"/>
            <p:cNvSpPr/>
            <p:nvPr/>
          </p:nvSpPr>
          <p:spPr>
            <a:xfrm>
              <a:off x="0" y="0"/>
              <a:ext cx="2955355" cy="580468"/>
            </a:xfrm>
            <a:custGeom>
              <a:avLst/>
              <a:gdLst/>
              <a:ahLst/>
              <a:cxnLst/>
              <a:rect l="l" t="t" r="r" b="b"/>
              <a:pathLst>
                <a:path w="2955355" h="580468">
                  <a:moveTo>
                    <a:pt x="35187" y="0"/>
                  </a:moveTo>
                  <a:lnTo>
                    <a:pt x="2920168" y="0"/>
                  </a:lnTo>
                  <a:cubicBezTo>
                    <a:pt x="2939602" y="0"/>
                    <a:pt x="2955355" y="15754"/>
                    <a:pt x="2955355" y="35187"/>
                  </a:cubicBezTo>
                  <a:lnTo>
                    <a:pt x="2955355" y="545281"/>
                  </a:lnTo>
                  <a:cubicBezTo>
                    <a:pt x="2955355" y="564714"/>
                    <a:pt x="2939602" y="580468"/>
                    <a:pt x="2920168" y="580468"/>
                  </a:cubicBezTo>
                  <a:lnTo>
                    <a:pt x="35187" y="580468"/>
                  </a:lnTo>
                  <a:cubicBezTo>
                    <a:pt x="25855" y="580468"/>
                    <a:pt x="16905" y="576761"/>
                    <a:pt x="10306" y="570162"/>
                  </a:cubicBezTo>
                  <a:cubicBezTo>
                    <a:pt x="3707" y="563563"/>
                    <a:pt x="0" y="554613"/>
                    <a:pt x="0" y="545281"/>
                  </a:cubicBezTo>
                  <a:lnTo>
                    <a:pt x="0" y="35187"/>
                  </a:lnTo>
                  <a:cubicBezTo>
                    <a:pt x="0" y="15754"/>
                    <a:pt x="15754" y="0"/>
                    <a:pt x="35187" y="0"/>
                  </a:cubicBezTo>
                  <a:close/>
                </a:path>
              </a:pathLst>
            </a:custGeom>
            <a:solidFill>
              <a:srgbClr val="3BB3D2"/>
            </a:solidFill>
          </p:spPr>
          <p:txBody>
            <a:bodyPr/>
            <a:lstStyle/>
            <a:p>
              <a:endParaRPr lang="en-US"/>
            </a:p>
          </p:txBody>
        </p:sp>
        <p:sp>
          <p:nvSpPr>
            <p:cNvPr id="11" name="TextBox 11"/>
            <p:cNvSpPr txBox="1"/>
            <p:nvPr/>
          </p:nvSpPr>
          <p:spPr>
            <a:xfrm>
              <a:off x="0" y="-85725"/>
              <a:ext cx="2955355" cy="666193"/>
            </a:xfrm>
            <a:prstGeom prst="rect">
              <a:avLst/>
            </a:prstGeom>
          </p:spPr>
          <p:txBody>
            <a:bodyPr lIns="50800" tIns="50800" rIns="50800" bIns="50800" rtlCol="0" anchor="ctr"/>
            <a:lstStyle/>
            <a:p>
              <a:pPr algn="ctr">
                <a:lnSpc>
                  <a:spcPts val="3035"/>
                </a:lnSpc>
              </a:pPr>
              <a:endParaRPr/>
            </a:p>
          </p:txBody>
        </p:sp>
      </p:grpSp>
      <p:sp>
        <p:nvSpPr>
          <p:cNvPr id="12" name="TextBox 12"/>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13" name="TextBox 13"/>
          <p:cNvSpPr txBox="1"/>
          <p:nvPr/>
        </p:nvSpPr>
        <p:spPr>
          <a:xfrm>
            <a:off x="15205725" y="9597750"/>
            <a:ext cx="2426550" cy="381000"/>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2</a:t>
            </a:r>
          </a:p>
        </p:txBody>
      </p:sp>
      <p:sp>
        <p:nvSpPr>
          <p:cNvPr id="14" name="TextBox 14"/>
          <p:cNvSpPr txBox="1"/>
          <p:nvPr/>
        </p:nvSpPr>
        <p:spPr>
          <a:xfrm>
            <a:off x="-228600" y="-17074"/>
            <a:ext cx="3840837" cy="679705"/>
          </a:xfrm>
          <a:prstGeom prst="rect">
            <a:avLst/>
          </a:prstGeom>
        </p:spPr>
        <p:txBody>
          <a:bodyPr lIns="0" tIns="0" rIns="0" bIns="0" rtlCol="0" anchor="t">
            <a:spAutoFit/>
          </a:bodyPr>
          <a:lstStyle/>
          <a:p>
            <a:pPr algn="ctr">
              <a:lnSpc>
                <a:spcPts val="4967"/>
              </a:lnSpc>
              <a:spcBef>
                <a:spcPct val="0"/>
              </a:spcBef>
            </a:pPr>
            <a:r>
              <a:rPr lang="en-US" sz="3599" b="1" i="1" dirty="0">
                <a:solidFill>
                  <a:srgbClr val="000000"/>
                </a:solidFill>
                <a:latin typeface="Times New Roman MT Bold Italics"/>
                <a:ea typeface="Times New Roman MT Bold Italics"/>
                <a:cs typeface="Times New Roman MT Bold Italics"/>
                <a:sym typeface="Times New Roman MT Bold Italics"/>
              </a:rPr>
              <a:t>System Architecture</a:t>
            </a:r>
          </a:p>
        </p:txBody>
      </p:sp>
      <p:sp>
        <p:nvSpPr>
          <p:cNvPr id="15" name="TextBox 15"/>
          <p:cNvSpPr txBox="1"/>
          <p:nvPr/>
        </p:nvSpPr>
        <p:spPr>
          <a:xfrm>
            <a:off x="488675" y="1606242"/>
            <a:ext cx="11335487" cy="1909953"/>
          </a:xfrm>
          <a:prstGeom prst="rect">
            <a:avLst/>
          </a:prstGeom>
        </p:spPr>
        <p:txBody>
          <a:bodyPr lIns="0" tIns="0" rIns="0" bIns="0" rtlCol="0" anchor="t">
            <a:spAutoFit/>
          </a:bodyPr>
          <a:lstStyle/>
          <a:p>
            <a:pPr algn="ctr">
              <a:lnSpc>
                <a:spcPts val="3725"/>
              </a:lnSpc>
            </a:pPr>
            <a:r>
              <a:rPr lang="en-US" sz="2699" b="1" i="1">
                <a:solidFill>
                  <a:srgbClr val="000000"/>
                </a:solidFill>
                <a:latin typeface="Times New Roman MT Bold Italics"/>
                <a:ea typeface="Times New Roman MT Bold Italics"/>
                <a:cs typeface="Times New Roman MT Bold Italics"/>
                <a:sym typeface="Times New Roman MT Bold Italics"/>
              </a:rPr>
              <a:t>Solar PV System</a:t>
            </a:r>
          </a:p>
          <a:p>
            <a:pPr algn="ctr">
              <a:lnSpc>
                <a:spcPts val="3725"/>
              </a:lnSpc>
            </a:pPr>
            <a:r>
              <a:rPr lang="en-US" sz="2699" i="1">
                <a:solidFill>
                  <a:srgbClr val="000000"/>
                </a:solidFill>
                <a:latin typeface="Times New Roman MT Italics"/>
                <a:ea typeface="Times New Roman MT Italics"/>
                <a:cs typeface="Times New Roman MT Italics"/>
                <a:sym typeface="Times New Roman MT Italics"/>
              </a:rPr>
              <a:t>Generates DC power connected to DC bus through DC-DC boost converter for optimal energy harvesting.</a:t>
            </a:r>
          </a:p>
          <a:p>
            <a:pPr algn="ctr">
              <a:lnSpc>
                <a:spcPts val="3725"/>
              </a:lnSpc>
              <a:spcBef>
                <a:spcPct val="0"/>
              </a:spcBef>
            </a:pPr>
            <a:endParaRPr lang="en-US" sz="2699" i="1">
              <a:solidFill>
                <a:srgbClr val="000000"/>
              </a:solidFill>
              <a:latin typeface="Times New Roman MT Italics"/>
              <a:ea typeface="Times New Roman MT Italics"/>
              <a:cs typeface="Times New Roman MT Italics"/>
              <a:sym typeface="Times New Roman MT Italics"/>
            </a:endParaRPr>
          </a:p>
        </p:txBody>
      </p:sp>
      <p:sp>
        <p:nvSpPr>
          <p:cNvPr id="16" name="TextBox 16"/>
          <p:cNvSpPr txBox="1"/>
          <p:nvPr/>
        </p:nvSpPr>
        <p:spPr>
          <a:xfrm>
            <a:off x="609189" y="4403778"/>
            <a:ext cx="10850122" cy="1909953"/>
          </a:xfrm>
          <a:prstGeom prst="rect">
            <a:avLst/>
          </a:prstGeom>
        </p:spPr>
        <p:txBody>
          <a:bodyPr lIns="0" tIns="0" rIns="0" bIns="0" rtlCol="0" anchor="t">
            <a:spAutoFit/>
          </a:bodyPr>
          <a:lstStyle/>
          <a:p>
            <a:pPr algn="ctr">
              <a:lnSpc>
                <a:spcPts val="3725"/>
              </a:lnSpc>
            </a:pPr>
            <a:r>
              <a:rPr lang="en-US" sz="2699" b="1" i="1">
                <a:solidFill>
                  <a:srgbClr val="000000"/>
                </a:solidFill>
                <a:latin typeface="Times New Roman MT Bold Italics"/>
                <a:ea typeface="Times New Roman MT Bold Italics"/>
                <a:cs typeface="Times New Roman MT Bold Italics"/>
                <a:sym typeface="Times New Roman MT Bold Italics"/>
              </a:rPr>
              <a:t>Wind Energy System</a:t>
            </a:r>
          </a:p>
          <a:p>
            <a:pPr algn="ctr">
              <a:lnSpc>
                <a:spcPts val="3725"/>
              </a:lnSpc>
            </a:pPr>
            <a:r>
              <a:rPr lang="en-US" sz="2699" i="1">
                <a:solidFill>
                  <a:srgbClr val="000000"/>
                </a:solidFill>
                <a:latin typeface="Times New Roman MT Italics"/>
                <a:ea typeface="Times New Roman MT Italics"/>
                <a:cs typeface="Times New Roman MT Italics"/>
                <a:sym typeface="Times New Roman MT Italics"/>
              </a:rPr>
              <a:t>Wind turbine with PMSG, rectifier, and boost converter supplying DC power to the main bus.</a:t>
            </a:r>
          </a:p>
          <a:p>
            <a:pPr algn="ctr">
              <a:lnSpc>
                <a:spcPts val="3725"/>
              </a:lnSpc>
              <a:spcBef>
                <a:spcPct val="0"/>
              </a:spcBef>
            </a:pPr>
            <a:endParaRPr lang="en-US" sz="2699" i="1">
              <a:solidFill>
                <a:srgbClr val="000000"/>
              </a:solidFill>
              <a:latin typeface="Times New Roman MT Italics"/>
              <a:ea typeface="Times New Roman MT Italics"/>
              <a:cs typeface="Times New Roman MT Italics"/>
              <a:sym typeface="Times New Roman MT Italics"/>
            </a:endParaRPr>
          </a:p>
        </p:txBody>
      </p:sp>
      <p:sp>
        <p:nvSpPr>
          <p:cNvPr id="17" name="TextBox 17"/>
          <p:cNvSpPr txBox="1"/>
          <p:nvPr/>
        </p:nvSpPr>
        <p:spPr>
          <a:xfrm>
            <a:off x="903515" y="7199556"/>
            <a:ext cx="10676310" cy="1909953"/>
          </a:xfrm>
          <a:prstGeom prst="rect">
            <a:avLst/>
          </a:prstGeom>
        </p:spPr>
        <p:txBody>
          <a:bodyPr lIns="0" tIns="0" rIns="0" bIns="0" rtlCol="0" anchor="t">
            <a:spAutoFit/>
          </a:bodyPr>
          <a:lstStyle/>
          <a:p>
            <a:pPr algn="ctr">
              <a:lnSpc>
                <a:spcPts val="3725"/>
              </a:lnSpc>
            </a:pPr>
            <a:r>
              <a:rPr lang="en-US" sz="2699" b="1" i="1">
                <a:solidFill>
                  <a:srgbClr val="000000"/>
                </a:solidFill>
                <a:latin typeface="Times New Roman MT Bold Italics"/>
                <a:ea typeface="Times New Roman MT Bold Italics"/>
                <a:cs typeface="Times New Roman MT Bold Italics"/>
                <a:sym typeface="Times New Roman MT Bold Italics"/>
              </a:rPr>
              <a:t>Battery Storage</a:t>
            </a:r>
          </a:p>
          <a:p>
            <a:pPr algn="ctr">
              <a:lnSpc>
                <a:spcPts val="3725"/>
              </a:lnSpc>
            </a:pPr>
            <a:r>
              <a:rPr lang="en-US" sz="2699" i="1">
                <a:solidFill>
                  <a:srgbClr val="000000"/>
                </a:solidFill>
                <a:latin typeface="Times New Roman MT Italics"/>
                <a:ea typeface="Times New Roman MT Italics"/>
                <a:cs typeface="Times New Roman MT Italics"/>
                <a:sym typeface="Times New Roman MT Italics"/>
              </a:rPr>
              <a:t>Bidirectional DC-DC converter enabling charging and discharging based on load demand fluctuations.</a:t>
            </a:r>
          </a:p>
          <a:p>
            <a:pPr algn="ctr">
              <a:lnSpc>
                <a:spcPts val="3725"/>
              </a:lnSpc>
              <a:spcBef>
                <a:spcPct val="0"/>
              </a:spcBef>
            </a:pPr>
            <a:endParaRPr lang="en-US" sz="2699" i="1">
              <a:solidFill>
                <a:srgbClr val="000000"/>
              </a:solidFill>
              <a:latin typeface="Times New Roman MT Italics"/>
              <a:ea typeface="Times New Roman MT Italics"/>
              <a:cs typeface="Times New Roman MT Italics"/>
              <a:sym typeface="Times New Roman MT Italic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sp>
        <p:nvSpPr>
          <p:cNvPr id="3" name="Freeform 3"/>
          <p:cNvSpPr/>
          <p:nvPr/>
        </p:nvSpPr>
        <p:spPr>
          <a:xfrm>
            <a:off x="-247386" y="498846"/>
            <a:ext cx="18535386" cy="8759454"/>
          </a:xfrm>
          <a:custGeom>
            <a:avLst/>
            <a:gdLst/>
            <a:ahLst/>
            <a:cxnLst/>
            <a:rect l="l" t="t" r="r" b="b"/>
            <a:pathLst>
              <a:path w="18535386" h="8759454">
                <a:moveTo>
                  <a:pt x="0" y="0"/>
                </a:moveTo>
                <a:lnTo>
                  <a:pt x="18535386" y="0"/>
                </a:lnTo>
                <a:lnTo>
                  <a:pt x="18535386" y="8759454"/>
                </a:lnTo>
                <a:lnTo>
                  <a:pt x="0" y="8759454"/>
                </a:lnTo>
                <a:lnTo>
                  <a:pt x="0" y="0"/>
                </a:lnTo>
                <a:close/>
              </a:path>
            </a:pathLst>
          </a:custGeom>
          <a:blipFill>
            <a:blip r:embed="rId3"/>
            <a:stretch>
              <a:fillRect l="-6623" r="-5289" b="-941"/>
            </a:stretch>
          </a:blipFill>
        </p:spPr>
        <p:txBody>
          <a:bodyPr/>
          <a:lstStyle/>
          <a:p>
            <a:endParaRPr lang="en-US"/>
          </a:p>
        </p:txBody>
      </p:sp>
      <p:sp>
        <p:nvSpPr>
          <p:cNvPr id="4" name="TextBox 4"/>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5" name="TextBox 5"/>
          <p:cNvSpPr txBox="1"/>
          <p:nvPr/>
        </p:nvSpPr>
        <p:spPr>
          <a:xfrm>
            <a:off x="15205725" y="9597750"/>
            <a:ext cx="2426550" cy="572775"/>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6528983" y="3497373"/>
            <a:ext cx="5230034" cy="5909877"/>
            <a:chOff x="0" y="0"/>
            <a:chExt cx="1377457" cy="1556511"/>
          </a:xfrm>
        </p:grpSpPr>
        <p:sp>
          <p:nvSpPr>
            <p:cNvPr id="4" name="Freeform 4"/>
            <p:cNvSpPr/>
            <p:nvPr/>
          </p:nvSpPr>
          <p:spPr>
            <a:xfrm>
              <a:off x="0" y="0"/>
              <a:ext cx="1377457" cy="1556511"/>
            </a:xfrm>
            <a:custGeom>
              <a:avLst/>
              <a:gdLst/>
              <a:ahLst/>
              <a:cxnLst/>
              <a:rect l="l" t="t" r="r" b="b"/>
              <a:pathLst>
                <a:path w="1377457" h="1556511">
                  <a:moveTo>
                    <a:pt x="75494" y="0"/>
                  </a:moveTo>
                  <a:lnTo>
                    <a:pt x="1301963" y="0"/>
                  </a:lnTo>
                  <a:cubicBezTo>
                    <a:pt x="1321985" y="0"/>
                    <a:pt x="1341188" y="7954"/>
                    <a:pt x="1355346" y="22112"/>
                  </a:cubicBezTo>
                  <a:cubicBezTo>
                    <a:pt x="1369504" y="36270"/>
                    <a:pt x="1377457" y="55472"/>
                    <a:pt x="1377457" y="75494"/>
                  </a:cubicBezTo>
                  <a:lnTo>
                    <a:pt x="1377457" y="1481017"/>
                  </a:lnTo>
                  <a:cubicBezTo>
                    <a:pt x="1377457" y="1501039"/>
                    <a:pt x="1369504" y="1520241"/>
                    <a:pt x="1355346" y="1534399"/>
                  </a:cubicBezTo>
                  <a:cubicBezTo>
                    <a:pt x="1341188" y="1548557"/>
                    <a:pt x="1321985" y="1556511"/>
                    <a:pt x="1301963" y="1556511"/>
                  </a:cubicBezTo>
                  <a:lnTo>
                    <a:pt x="75494" y="1556511"/>
                  </a:lnTo>
                  <a:cubicBezTo>
                    <a:pt x="55472" y="1556511"/>
                    <a:pt x="36270" y="1548557"/>
                    <a:pt x="22112" y="1534399"/>
                  </a:cubicBezTo>
                  <a:cubicBezTo>
                    <a:pt x="7954" y="1520241"/>
                    <a:pt x="0" y="1501039"/>
                    <a:pt x="0" y="1481017"/>
                  </a:cubicBezTo>
                  <a:lnTo>
                    <a:pt x="0" y="75494"/>
                  </a:lnTo>
                  <a:cubicBezTo>
                    <a:pt x="0" y="55472"/>
                    <a:pt x="7954" y="36270"/>
                    <a:pt x="22112" y="22112"/>
                  </a:cubicBezTo>
                  <a:cubicBezTo>
                    <a:pt x="36270" y="7954"/>
                    <a:pt x="55472" y="0"/>
                    <a:pt x="75494" y="0"/>
                  </a:cubicBezTo>
                  <a:close/>
                </a:path>
              </a:pathLst>
            </a:custGeom>
            <a:solidFill>
              <a:srgbClr val="3BB3D2"/>
            </a:solidFill>
          </p:spPr>
          <p:txBody>
            <a:bodyPr/>
            <a:lstStyle/>
            <a:p>
              <a:endParaRPr lang="en-US"/>
            </a:p>
          </p:txBody>
        </p:sp>
        <p:sp>
          <p:nvSpPr>
            <p:cNvPr id="5" name="TextBox 5"/>
            <p:cNvSpPr txBox="1"/>
            <p:nvPr/>
          </p:nvSpPr>
          <p:spPr>
            <a:xfrm>
              <a:off x="0" y="-95250"/>
              <a:ext cx="1377457" cy="1651761"/>
            </a:xfrm>
            <a:prstGeom prst="rect">
              <a:avLst/>
            </a:prstGeom>
          </p:spPr>
          <p:txBody>
            <a:bodyPr lIns="50800" tIns="50800" rIns="50800" bIns="50800" rtlCol="0" anchor="ctr"/>
            <a:lstStyle/>
            <a:p>
              <a:pPr algn="ctr">
                <a:lnSpc>
                  <a:spcPts val="3311"/>
                </a:lnSpc>
              </a:pPr>
              <a:r>
                <a:rPr lang="en-US" sz="2399" b="1" i="1">
                  <a:solidFill>
                    <a:srgbClr val="000000"/>
                  </a:solidFill>
                  <a:latin typeface="Times New Roman MT Bold Italics"/>
                  <a:ea typeface="Times New Roman MT Bold Italics"/>
                  <a:cs typeface="Times New Roman MT Bold Italics"/>
                  <a:sym typeface="Times New Roman MT Bold Italics"/>
                </a:rPr>
                <a:t>MPPT (Perturb &amp; Observe Algorithm)</a:t>
              </a:r>
              <a:r>
                <a:rPr lang="en-US" sz="2399" i="1">
                  <a:solidFill>
                    <a:srgbClr val="000000"/>
                  </a:solidFill>
                  <a:latin typeface="Times New Roman MT Italics"/>
                  <a:ea typeface="Times New Roman MT Italics"/>
                  <a:cs typeface="Times New Roman MT Italics"/>
                  <a:sym typeface="Times New Roman MT Italics"/>
                </a:rPr>
                <a:t> Continuously adjusts the panel’s operating point. If a small change increases power, it keeps moving in that direction; if power decreases, it reverses. This ensures the panel always works at its maximum power point.</a:t>
              </a:r>
            </a:p>
          </p:txBody>
        </p:sp>
      </p:grpSp>
      <p:grpSp>
        <p:nvGrpSpPr>
          <p:cNvPr id="6" name="Group 6"/>
          <p:cNvGrpSpPr/>
          <p:nvPr/>
        </p:nvGrpSpPr>
        <p:grpSpPr>
          <a:xfrm>
            <a:off x="304433" y="280111"/>
            <a:ext cx="4218299" cy="6172200"/>
            <a:chOff x="0" y="0"/>
            <a:chExt cx="1110992" cy="1625600"/>
          </a:xfrm>
        </p:grpSpPr>
        <p:sp>
          <p:nvSpPr>
            <p:cNvPr id="7" name="Freeform 7"/>
            <p:cNvSpPr/>
            <p:nvPr/>
          </p:nvSpPr>
          <p:spPr>
            <a:xfrm>
              <a:off x="0" y="0"/>
              <a:ext cx="1110992" cy="1625600"/>
            </a:xfrm>
            <a:custGeom>
              <a:avLst/>
              <a:gdLst/>
              <a:ahLst/>
              <a:cxnLst/>
              <a:rect l="l" t="t" r="r" b="b"/>
              <a:pathLst>
                <a:path w="1110992" h="1625600">
                  <a:moveTo>
                    <a:pt x="93601" y="0"/>
                  </a:moveTo>
                  <a:lnTo>
                    <a:pt x="1017391" y="0"/>
                  </a:lnTo>
                  <a:cubicBezTo>
                    <a:pt x="1042216" y="0"/>
                    <a:pt x="1066023" y="9862"/>
                    <a:pt x="1083577" y="27415"/>
                  </a:cubicBezTo>
                  <a:cubicBezTo>
                    <a:pt x="1101131" y="44969"/>
                    <a:pt x="1110992" y="68777"/>
                    <a:pt x="1110992" y="93601"/>
                  </a:cubicBezTo>
                  <a:lnTo>
                    <a:pt x="1110992" y="1531999"/>
                  </a:lnTo>
                  <a:cubicBezTo>
                    <a:pt x="1110992" y="1556823"/>
                    <a:pt x="1101131" y="1580631"/>
                    <a:pt x="1083577" y="1598185"/>
                  </a:cubicBezTo>
                  <a:cubicBezTo>
                    <a:pt x="1066023" y="1615738"/>
                    <a:pt x="1042216" y="1625600"/>
                    <a:pt x="1017391" y="1625600"/>
                  </a:cubicBezTo>
                  <a:lnTo>
                    <a:pt x="93601" y="1625600"/>
                  </a:lnTo>
                  <a:cubicBezTo>
                    <a:pt x="68777" y="1625600"/>
                    <a:pt x="44969" y="1615738"/>
                    <a:pt x="27415" y="1598185"/>
                  </a:cubicBezTo>
                  <a:cubicBezTo>
                    <a:pt x="9862" y="1580631"/>
                    <a:pt x="0" y="1556823"/>
                    <a:pt x="0" y="1531999"/>
                  </a:cubicBezTo>
                  <a:lnTo>
                    <a:pt x="0" y="93601"/>
                  </a:lnTo>
                  <a:cubicBezTo>
                    <a:pt x="0" y="68777"/>
                    <a:pt x="9862" y="44969"/>
                    <a:pt x="27415" y="27415"/>
                  </a:cubicBezTo>
                  <a:cubicBezTo>
                    <a:pt x="44969" y="9862"/>
                    <a:pt x="68777" y="0"/>
                    <a:pt x="93601" y="0"/>
                  </a:cubicBezTo>
                  <a:close/>
                </a:path>
              </a:pathLst>
            </a:custGeom>
            <a:solidFill>
              <a:srgbClr val="3BB3D2"/>
            </a:solidFill>
          </p:spPr>
          <p:txBody>
            <a:bodyPr/>
            <a:lstStyle/>
            <a:p>
              <a:endParaRPr lang="en-US"/>
            </a:p>
          </p:txBody>
        </p:sp>
        <p:sp>
          <p:nvSpPr>
            <p:cNvPr id="8" name="TextBox 8"/>
            <p:cNvSpPr txBox="1"/>
            <p:nvPr/>
          </p:nvSpPr>
          <p:spPr>
            <a:xfrm>
              <a:off x="0" y="-95250"/>
              <a:ext cx="1110992" cy="1720850"/>
            </a:xfrm>
            <a:prstGeom prst="rect">
              <a:avLst/>
            </a:prstGeom>
          </p:spPr>
          <p:txBody>
            <a:bodyPr lIns="50800" tIns="50800" rIns="50800" bIns="50800" rtlCol="0" anchor="ctr"/>
            <a:lstStyle/>
            <a:p>
              <a:pPr algn="ctr">
                <a:lnSpc>
                  <a:spcPts val="3449"/>
                </a:lnSpc>
              </a:pPr>
              <a:r>
                <a:rPr lang="en-US" sz="2499" b="1" i="1">
                  <a:solidFill>
                    <a:srgbClr val="000000"/>
                  </a:solidFill>
                  <a:latin typeface="Times New Roman MT Bold Italics"/>
                  <a:ea typeface="Times New Roman MT Bold Italics"/>
                  <a:cs typeface="Times New Roman MT Bold Italics"/>
                  <a:sym typeface="Times New Roman MT Bold Italics"/>
                </a:rPr>
                <a:t>Solar Panel Block </a:t>
              </a:r>
            </a:p>
            <a:p>
              <a:pPr marL="539748" lvl="1" indent="-269874" algn="ctr">
                <a:lnSpc>
                  <a:spcPts val="3449"/>
                </a:lnSpc>
                <a:buFont typeface="Arial"/>
                <a:buChar char="•"/>
              </a:pPr>
              <a:r>
                <a:rPr lang="en-US" sz="2499" i="1">
                  <a:solidFill>
                    <a:srgbClr val="000000"/>
                  </a:solidFill>
                  <a:latin typeface="Times New Roman MT Italics"/>
                  <a:ea typeface="Times New Roman MT Italics"/>
                  <a:cs typeface="Times New Roman MT Italics"/>
                  <a:sym typeface="Times New Roman MT Italics"/>
                </a:rPr>
                <a:t>The solar panel block transforms sunlight (irradiance) and temperature into DC voltage and current. </a:t>
              </a:r>
            </a:p>
            <a:p>
              <a:pPr marL="539748" lvl="1" indent="-269874" algn="ctr">
                <a:lnSpc>
                  <a:spcPts val="3449"/>
                </a:lnSpc>
                <a:buFont typeface="Arial"/>
                <a:buChar char="•"/>
              </a:pPr>
              <a:r>
                <a:rPr lang="en-US" sz="2499" i="1">
                  <a:solidFill>
                    <a:srgbClr val="000000"/>
                  </a:solidFill>
                  <a:latin typeface="Times New Roman MT Italics"/>
                  <a:ea typeface="Times New Roman MT Italics"/>
                  <a:cs typeface="Times New Roman MT Italics"/>
                  <a:sym typeface="Times New Roman MT Italics"/>
                </a:rPr>
                <a:t>Output will depend on the weather conditions such as incoming sunlight and temperature of the panel.</a:t>
              </a:r>
            </a:p>
          </p:txBody>
        </p:sp>
      </p:grpSp>
      <p:grpSp>
        <p:nvGrpSpPr>
          <p:cNvPr id="9" name="Group 9"/>
          <p:cNvGrpSpPr/>
          <p:nvPr/>
        </p:nvGrpSpPr>
        <p:grpSpPr>
          <a:xfrm>
            <a:off x="13505883" y="280111"/>
            <a:ext cx="4227342" cy="6172200"/>
            <a:chOff x="0" y="0"/>
            <a:chExt cx="1113374" cy="1625600"/>
          </a:xfrm>
        </p:grpSpPr>
        <p:sp>
          <p:nvSpPr>
            <p:cNvPr id="10" name="Freeform 10"/>
            <p:cNvSpPr/>
            <p:nvPr/>
          </p:nvSpPr>
          <p:spPr>
            <a:xfrm>
              <a:off x="0" y="0"/>
              <a:ext cx="1113374" cy="1625600"/>
            </a:xfrm>
            <a:custGeom>
              <a:avLst/>
              <a:gdLst/>
              <a:ahLst/>
              <a:cxnLst/>
              <a:rect l="l" t="t" r="r" b="b"/>
              <a:pathLst>
                <a:path w="1113374" h="1625600">
                  <a:moveTo>
                    <a:pt x="93401" y="0"/>
                  </a:moveTo>
                  <a:lnTo>
                    <a:pt x="1019973" y="0"/>
                  </a:lnTo>
                  <a:cubicBezTo>
                    <a:pt x="1044744" y="0"/>
                    <a:pt x="1068501" y="9840"/>
                    <a:pt x="1086018" y="27357"/>
                  </a:cubicBezTo>
                  <a:cubicBezTo>
                    <a:pt x="1103534" y="44873"/>
                    <a:pt x="1113374" y="68630"/>
                    <a:pt x="1113374" y="93401"/>
                  </a:cubicBezTo>
                  <a:lnTo>
                    <a:pt x="1113374" y="1532199"/>
                  </a:lnTo>
                  <a:cubicBezTo>
                    <a:pt x="1113374" y="1583783"/>
                    <a:pt x="1071557" y="1625600"/>
                    <a:pt x="1019973" y="1625600"/>
                  </a:cubicBezTo>
                  <a:lnTo>
                    <a:pt x="93401" y="1625600"/>
                  </a:lnTo>
                  <a:cubicBezTo>
                    <a:pt x="68630" y="1625600"/>
                    <a:pt x="44873" y="1615760"/>
                    <a:pt x="27357" y="1598244"/>
                  </a:cubicBezTo>
                  <a:cubicBezTo>
                    <a:pt x="9840" y="1580727"/>
                    <a:pt x="0" y="1556970"/>
                    <a:pt x="0" y="1532199"/>
                  </a:cubicBezTo>
                  <a:lnTo>
                    <a:pt x="0" y="93401"/>
                  </a:lnTo>
                  <a:cubicBezTo>
                    <a:pt x="0" y="68630"/>
                    <a:pt x="9840" y="44873"/>
                    <a:pt x="27357" y="27357"/>
                  </a:cubicBezTo>
                  <a:cubicBezTo>
                    <a:pt x="44873" y="9840"/>
                    <a:pt x="68630" y="0"/>
                    <a:pt x="93401" y="0"/>
                  </a:cubicBezTo>
                  <a:close/>
                </a:path>
              </a:pathLst>
            </a:custGeom>
            <a:solidFill>
              <a:srgbClr val="3BB3D2"/>
            </a:solidFill>
          </p:spPr>
          <p:txBody>
            <a:bodyPr/>
            <a:lstStyle/>
            <a:p>
              <a:endParaRPr lang="en-US"/>
            </a:p>
          </p:txBody>
        </p:sp>
        <p:sp>
          <p:nvSpPr>
            <p:cNvPr id="11" name="TextBox 11"/>
            <p:cNvSpPr txBox="1"/>
            <p:nvPr/>
          </p:nvSpPr>
          <p:spPr>
            <a:xfrm>
              <a:off x="0" y="-104775"/>
              <a:ext cx="1113374" cy="1730375"/>
            </a:xfrm>
            <a:prstGeom prst="rect">
              <a:avLst/>
            </a:prstGeom>
          </p:spPr>
          <p:txBody>
            <a:bodyPr lIns="50800" tIns="50800" rIns="50800" bIns="50800" rtlCol="0" anchor="ctr"/>
            <a:lstStyle/>
            <a:p>
              <a:pPr algn="ctr">
                <a:lnSpc>
                  <a:spcPts val="3725"/>
                </a:lnSpc>
              </a:pPr>
              <a:r>
                <a:rPr lang="en-US" sz="2699" b="1" i="1">
                  <a:solidFill>
                    <a:srgbClr val="000000"/>
                  </a:solidFill>
                  <a:latin typeface="Times New Roman MT Bold Italics"/>
                  <a:ea typeface="Times New Roman MT Bold Italics"/>
                  <a:cs typeface="Times New Roman MT Bold Italics"/>
                  <a:sym typeface="Times New Roman MT Bold Italics"/>
                </a:rPr>
                <a:t>DC–DC Converter:</a:t>
              </a:r>
              <a:r>
                <a:rPr lang="en-US" sz="2699" i="1">
                  <a:solidFill>
                    <a:srgbClr val="000000"/>
                  </a:solidFill>
                  <a:latin typeface="Times New Roman MT Italics"/>
                  <a:ea typeface="Times New Roman MT Italics"/>
                  <a:cs typeface="Times New Roman MT Italics"/>
                  <a:sym typeface="Times New Roman MT Italics"/>
                </a:rPr>
                <a:t> Regulates the voltage by boosting or bucking it as required. It receives control signals from the MPPT algorithm to maintain maximum power delivery.</a:t>
              </a:r>
            </a:p>
          </p:txBody>
        </p:sp>
      </p:grpSp>
      <p:grpSp>
        <p:nvGrpSpPr>
          <p:cNvPr id="12" name="Group 12"/>
          <p:cNvGrpSpPr/>
          <p:nvPr/>
        </p:nvGrpSpPr>
        <p:grpSpPr>
          <a:xfrm>
            <a:off x="4027014" y="4938289"/>
            <a:ext cx="2501969" cy="1980423"/>
            <a:chOff x="0" y="0"/>
            <a:chExt cx="658955" cy="521593"/>
          </a:xfrm>
        </p:grpSpPr>
        <p:sp>
          <p:nvSpPr>
            <p:cNvPr id="13" name="Freeform 13"/>
            <p:cNvSpPr/>
            <p:nvPr/>
          </p:nvSpPr>
          <p:spPr>
            <a:xfrm>
              <a:off x="0" y="0"/>
              <a:ext cx="658955" cy="521593"/>
            </a:xfrm>
            <a:custGeom>
              <a:avLst/>
              <a:gdLst/>
              <a:ahLst/>
              <a:cxnLst/>
              <a:rect l="l" t="t" r="r" b="b"/>
              <a:pathLst>
                <a:path w="658955" h="521593">
                  <a:moveTo>
                    <a:pt x="658955" y="260796"/>
                  </a:moveTo>
                  <a:lnTo>
                    <a:pt x="252555" y="0"/>
                  </a:lnTo>
                  <a:lnTo>
                    <a:pt x="252555" y="203200"/>
                  </a:lnTo>
                  <a:lnTo>
                    <a:pt x="0" y="203200"/>
                  </a:lnTo>
                  <a:lnTo>
                    <a:pt x="0" y="318393"/>
                  </a:lnTo>
                  <a:lnTo>
                    <a:pt x="252555" y="318393"/>
                  </a:lnTo>
                  <a:lnTo>
                    <a:pt x="252555" y="521593"/>
                  </a:lnTo>
                  <a:lnTo>
                    <a:pt x="658955" y="260796"/>
                  </a:lnTo>
                  <a:close/>
                </a:path>
              </a:pathLst>
            </a:custGeom>
            <a:solidFill>
              <a:srgbClr val="3BB3D2"/>
            </a:solidFill>
          </p:spPr>
          <p:txBody>
            <a:bodyPr/>
            <a:lstStyle/>
            <a:p>
              <a:endParaRPr lang="en-US"/>
            </a:p>
          </p:txBody>
        </p:sp>
        <p:sp>
          <p:nvSpPr>
            <p:cNvPr id="14" name="TextBox 14"/>
            <p:cNvSpPr txBox="1"/>
            <p:nvPr/>
          </p:nvSpPr>
          <p:spPr>
            <a:xfrm>
              <a:off x="0" y="117475"/>
              <a:ext cx="557355" cy="200918"/>
            </a:xfrm>
            <a:prstGeom prst="rect">
              <a:avLst/>
            </a:prstGeom>
          </p:spPr>
          <p:txBody>
            <a:bodyPr lIns="50800" tIns="50800" rIns="50800" bIns="50800" rtlCol="0" anchor="ctr"/>
            <a:lstStyle/>
            <a:p>
              <a:pPr algn="ctr">
                <a:lnSpc>
                  <a:spcPts val="3035"/>
                </a:lnSpc>
              </a:pPr>
              <a:endParaRPr/>
            </a:p>
          </p:txBody>
        </p:sp>
      </p:grpSp>
      <p:sp>
        <p:nvSpPr>
          <p:cNvPr id="15" name="TextBox 15"/>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grpSp>
        <p:nvGrpSpPr>
          <p:cNvPr id="16" name="Group 16"/>
          <p:cNvGrpSpPr/>
          <p:nvPr/>
        </p:nvGrpSpPr>
        <p:grpSpPr>
          <a:xfrm>
            <a:off x="11003914" y="3366211"/>
            <a:ext cx="2501969" cy="1980423"/>
            <a:chOff x="0" y="0"/>
            <a:chExt cx="658955" cy="521593"/>
          </a:xfrm>
        </p:grpSpPr>
        <p:sp>
          <p:nvSpPr>
            <p:cNvPr id="17" name="Freeform 17"/>
            <p:cNvSpPr/>
            <p:nvPr/>
          </p:nvSpPr>
          <p:spPr>
            <a:xfrm>
              <a:off x="0" y="0"/>
              <a:ext cx="658955" cy="521593"/>
            </a:xfrm>
            <a:custGeom>
              <a:avLst/>
              <a:gdLst/>
              <a:ahLst/>
              <a:cxnLst/>
              <a:rect l="l" t="t" r="r" b="b"/>
              <a:pathLst>
                <a:path w="658955" h="521593">
                  <a:moveTo>
                    <a:pt x="658955" y="260796"/>
                  </a:moveTo>
                  <a:lnTo>
                    <a:pt x="252555" y="0"/>
                  </a:lnTo>
                  <a:lnTo>
                    <a:pt x="252555" y="203200"/>
                  </a:lnTo>
                  <a:lnTo>
                    <a:pt x="0" y="203200"/>
                  </a:lnTo>
                  <a:lnTo>
                    <a:pt x="0" y="318393"/>
                  </a:lnTo>
                  <a:lnTo>
                    <a:pt x="252555" y="318393"/>
                  </a:lnTo>
                  <a:lnTo>
                    <a:pt x="252555" y="521593"/>
                  </a:lnTo>
                  <a:lnTo>
                    <a:pt x="658955" y="260796"/>
                  </a:lnTo>
                  <a:close/>
                </a:path>
              </a:pathLst>
            </a:custGeom>
            <a:solidFill>
              <a:srgbClr val="3BB3D2"/>
            </a:solidFill>
          </p:spPr>
          <p:txBody>
            <a:bodyPr/>
            <a:lstStyle/>
            <a:p>
              <a:endParaRPr lang="en-US"/>
            </a:p>
          </p:txBody>
        </p:sp>
        <p:sp>
          <p:nvSpPr>
            <p:cNvPr id="18" name="TextBox 18"/>
            <p:cNvSpPr txBox="1"/>
            <p:nvPr/>
          </p:nvSpPr>
          <p:spPr>
            <a:xfrm>
              <a:off x="0" y="117475"/>
              <a:ext cx="557355" cy="200918"/>
            </a:xfrm>
            <a:prstGeom prst="rect">
              <a:avLst/>
            </a:prstGeom>
          </p:spPr>
          <p:txBody>
            <a:bodyPr lIns="50800" tIns="50800" rIns="50800" bIns="50800" rtlCol="0" anchor="ctr"/>
            <a:lstStyle/>
            <a:p>
              <a:pPr algn="ctr">
                <a:lnSpc>
                  <a:spcPts val="3035"/>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11396039" y="1451682"/>
            <a:ext cx="5965032" cy="6716058"/>
            <a:chOff x="0" y="0"/>
            <a:chExt cx="1571037" cy="1768838"/>
          </a:xfrm>
        </p:grpSpPr>
        <p:sp>
          <p:nvSpPr>
            <p:cNvPr id="4" name="Freeform 4"/>
            <p:cNvSpPr/>
            <p:nvPr/>
          </p:nvSpPr>
          <p:spPr>
            <a:xfrm>
              <a:off x="0" y="0"/>
              <a:ext cx="1571037" cy="1768838"/>
            </a:xfrm>
            <a:custGeom>
              <a:avLst/>
              <a:gdLst/>
              <a:ahLst/>
              <a:cxnLst/>
              <a:rect l="l" t="t" r="r" b="b"/>
              <a:pathLst>
                <a:path w="1571037" h="1768838">
                  <a:moveTo>
                    <a:pt x="66192" y="0"/>
                  </a:moveTo>
                  <a:lnTo>
                    <a:pt x="1504845" y="0"/>
                  </a:lnTo>
                  <a:cubicBezTo>
                    <a:pt x="1541402" y="0"/>
                    <a:pt x="1571037" y="29635"/>
                    <a:pt x="1571037" y="66192"/>
                  </a:cubicBezTo>
                  <a:lnTo>
                    <a:pt x="1571037" y="1702646"/>
                  </a:lnTo>
                  <a:cubicBezTo>
                    <a:pt x="1571037" y="1720202"/>
                    <a:pt x="1564064" y="1737038"/>
                    <a:pt x="1551650" y="1749451"/>
                  </a:cubicBezTo>
                  <a:cubicBezTo>
                    <a:pt x="1539237" y="1761865"/>
                    <a:pt x="1522400" y="1768838"/>
                    <a:pt x="1504845" y="1768838"/>
                  </a:cubicBezTo>
                  <a:lnTo>
                    <a:pt x="66192" y="1768838"/>
                  </a:lnTo>
                  <a:cubicBezTo>
                    <a:pt x="29635" y="1768838"/>
                    <a:pt x="0" y="1739203"/>
                    <a:pt x="0" y="1702646"/>
                  </a:cubicBezTo>
                  <a:lnTo>
                    <a:pt x="0" y="66192"/>
                  </a:lnTo>
                  <a:cubicBezTo>
                    <a:pt x="0" y="29635"/>
                    <a:pt x="29635" y="0"/>
                    <a:pt x="66192" y="0"/>
                  </a:cubicBezTo>
                  <a:close/>
                </a:path>
              </a:pathLst>
            </a:custGeom>
            <a:solidFill>
              <a:srgbClr val="3BB3D2"/>
            </a:solidFill>
          </p:spPr>
          <p:txBody>
            <a:bodyPr/>
            <a:lstStyle/>
            <a:p>
              <a:endParaRPr lang="en-US"/>
            </a:p>
          </p:txBody>
        </p:sp>
        <p:sp>
          <p:nvSpPr>
            <p:cNvPr id="5" name="TextBox 5"/>
            <p:cNvSpPr txBox="1"/>
            <p:nvPr/>
          </p:nvSpPr>
          <p:spPr>
            <a:xfrm>
              <a:off x="0" y="-114300"/>
              <a:ext cx="1571037" cy="1883138"/>
            </a:xfrm>
            <a:prstGeom prst="rect">
              <a:avLst/>
            </a:prstGeom>
          </p:spPr>
          <p:txBody>
            <a:bodyPr lIns="50800" tIns="50800" rIns="50800" bIns="50800" rtlCol="0" anchor="ctr"/>
            <a:lstStyle/>
            <a:p>
              <a:pPr algn="ctr">
                <a:lnSpc>
                  <a:spcPts val="4277"/>
                </a:lnSpc>
              </a:pPr>
              <a:r>
                <a:rPr lang="en-US" sz="3099" b="1" i="1">
                  <a:solidFill>
                    <a:srgbClr val="000000"/>
                  </a:solidFill>
                  <a:latin typeface="Times New Roman MT Bold Italics"/>
                  <a:ea typeface="Times New Roman MT Bold Italics"/>
                  <a:cs typeface="Times New Roman MT Bold Italics"/>
                  <a:sym typeface="Times New Roman MT Bold Italics"/>
                </a:rPr>
                <a:t>Overall Working</a:t>
              </a:r>
            </a:p>
            <a:p>
              <a:pPr algn="ctr">
                <a:lnSpc>
                  <a:spcPts val="4277"/>
                </a:lnSpc>
              </a:pPr>
              <a:r>
                <a:rPr lang="en-US" sz="3099" i="1">
                  <a:solidFill>
                    <a:srgbClr val="000000"/>
                  </a:solidFill>
                  <a:latin typeface="Times New Roman MT Italics"/>
                  <a:ea typeface="Times New Roman MT Italics"/>
                  <a:cs typeface="Times New Roman MT Italics"/>
                  <a:sym typeface="Times New Roman MT Italics"/>
                </a:rPr>
                <a:t> The model functions like a real solar inverter. It extracts maximum possible power from the solar panel under varying weather conditions, demonstrating how solar energy can be efficiently optimized in practice.</a:t>
              </a:r>
            </a:p>
            <a:p>
              <a:pPr algn="ctr">
                <a:lnSpc>
                  <a:spcPts val="4277"/>
                </a:lnSpc>
              </a:pPr>
              <a:endParaRPr lang="en-US" sz="3099" i="1">
                <a:solidFill>
                  <a:srgbClr val="000000"/>
                </a:solidFill>
                <a:latin typeface="Times New Roman MT Italics"/>
                <a:ea typeface="Times New Roman MT Italics"/>
                <a:cs typeface="Times New Roman MT Italics"/>
                <a:sym typeface="Times New Roman MT Italics"/>
              </a:endParaRPr>
            </a:p>
          </p:txBody>
        </p:sp>
      </p:grpSp>
      <p:grpSp>
        <p:nvGrpSpPr>
          <p:cNvPr id="6" name="Group 6"/>
          <p:cNvGrpSpPr/>
          <p:nvPr/>
        </p:nvGrpSpPr>
        <p:grpSpPr>
          <a:xfrm>
            <a:off x="903529" y="1451682"/>
            <a:ext cx="5972174" cy="6716058"/>
            <a:chOff x="0" y="0"/>
            <a:chExt cx="1572918" cy="1768838"/>
          </a:xfrm>
        </p:grpSpPr>
        <p:sp>
          <p:nvSpPr>
            <p:cNvPr id="7" name="Freeform 7"/>
            <p:cNvSpPr/>
            <p:nvPr/>
          </p:nvSpPr>
          <p:spPr>
            <a:xfrm>
              <a:off x="0" y="0"/>
              <a:ext cx="1572918" cy="1768838"/>
            </a:xfrm>
            <a:custGeom>
              <a:avLst/>
              <a:gdLst/>
              <a:ahLst/>
              <a:cxnLst/>
              <a:rect l="l" t="t" r="r" b="b"/>
              <a:pathLst>
                <a:path w="1572918" h="1768838">
                  <a:moveTo>
                    <a:pt x="66113" y="0"/>
                  </a:moveTo>
                  <a:lnTo>
                    <a:pt x="1506805" y="0"/>
                  </a:lnTo>
                  <a:cubicBezTo>
                    <a:pt x="1524339" y="0"/>
                    <a:pt x="1541156" y="6965"/>
                    <a:pt x="1553554" y="19364"/>
                  </a:cubicBezTo>
                  <a:cubicBezTo>
                    <a:pt x="1565953" y="31763"/>
                    <a:pt x="1572918" y="48579"/>
                    <a:pt x="1572918" y="66113"/>
                  </a:cubicBezTo>
                  <a:lnTo>
                    <a:pt x="1572918" y="1702725"/>
                  </a:lnTo>
                  <a:cubicBezTo>
                    <a:pt x="1572918" y="1720260"/>
                    <a:pt x="1565953" y="1737076"/>
                    <a:pt x="1553554" y="1749474"/>
                  </a:cubicBezTo>
                  <a:cubicBezTo>
                    <a:pt x="1541156" y="1761873"/>
                    <a:pt x="1524339" y="1768838"/>
                    <a:pt x="1506805" y="1768838"/>
                  </a:cubicBezTo>
                  <a:lnTo>
                    <a:pt x="66113" y="1768838"/>
                  </a:lnTo>
                  <a:cubicBezTo>
                    <a:pt x="48579" y="1768838"/>
                    <a:pt x="31763" y="1761873"/>
                    <a:pt x="19364" y="1749474"/>
                  </a:cubicBezTo>
                  <a:cubicBezTo>
                    <a:pt x="6965" y="1737076"/>
                    <a:pt x="0" y="1720260"/>
                    <a:pt x="0" y="1702725"/>
                  </a:cubicBezTo>
                  <a:lnTo>
                    <a:pt x="0" y="66113"/>
                  </a:lnTo>
                  <a:cubicBezTo>
                    <a:pt x="0" y="48579"/>
                    <a:pt x="6965" y="31763"/>
                    <a:pt x="19364" y="19364"/>
                  </a:cubicBezTo>
                  <a:cubicBezTo>
                    <a:pt x="31763" y="6965"/>
                    <a:pt x="48579" y="0"/>
                    <a:pt x="66113" y="0"/>
                  </a:cubicBezTo>
                  <a:close/>
                </a:path>
              </a:pathLst>
            </a:custGeom>
            <a:solidFill>
              <a:srgbClr val="3BB3D2"/>
            </a:solidFill>
          </p:spPr>
          <p:txBody>
            <a:bodyPr/>
            <a:lstStyle/>
            <a:p>
              <a:endParaRPr lang="en-US"/>
            </a:p>
          </p:txBody>
        </p:sp>
        <p:sp>
          <p:nvSpPr>
            <p:cNvPr id="8" name="TextBox 8"/>
            <p:cNvSpPr txBox="1"/>
            <p:nvPr/>
          </p:nvSpPr>
          <p:spPr>
            <a:xfrm>
              <a:off x="0" y="-114300"/>
              <a:ext cx="1572918" cy="1883138"/>
            </a:xfrm>
            <a:prstGeom prst="rect">
              <a:avLst/>
            </a:prstGeom>
          </p:spPr>
          <p:txBody>
            <a:bodyPr lIns="50800" tIns="50800" rIns="50800" bIns="50800" rtlCol="0" anchor="ctr"/>
            <a:lstStyle/>
            <a:p>
              <a:pPr algn="ctr">
                <a:lnSpc>
                  <a:spcPts val="4139"/>
                </a:lnSpc>
              </a:pPr>
              <a:r>
                <a:rPr lang="en-US" sz="2999" b="1" i="1">
                  <a:solidFill>
                    <a:srgbClr val="000000"/>
                  </a:solidFill>
                  <a:latin typeface="Times New Roman MT Bold Italics"/>
                  <a:ea typeface="Times New Roman MT Bold Italics"/>
                  <a:cs typeface="Times New Roman MT Bold Italics"/>
                  <a:sym typeface="Times New Roman MT Bold Italics"/>
                </a:rPr>
                <a:t>Output Metrics (Scopes)</a:t>
              </a:r>
            </a:p>
            <a:p>
              <a:pPr marL="647695" lvl="1" indent="-323848" algn="ctr">
                <a:lnSpc>
                  <a:spcPts val="4139"/>
                </a:lnSpc>
                <a:buFont typeface="Arial"/>
                <a:buChar char="•"/>
              </a:pPr>
              <a:r>
                <a:rPr lang="en-US" sz="2999" i="1">
                  <a:solidFill>
                    <a:srgbClr val="000000"/>
                  </a:solidFill>
                  <a:latin typeface="Times New Roman MT Italics"/>
                  <a:ea typeface="Times New Roman MT Italics"/>
                  <a:cs typeface="Times New Roman MT Italics"/>
                  <a:sym typeface="Times New Roman MT Italics"/>
                </a:rPr>
                <a:t>Records and displays voltage, current, and power over time in the form of a graph.</a:t>
              </a:r>
            </a:p>
            <a:p>
              <a:pPr marL="647695" lvl="1" indent="-323848" algn="ctr">
                <a:lnSpc>
                  <a:spcPts val="4139"/>
                </a:lnSpc>
                <a:buFont typeface="Arial"/>
                <a:buChar char="•"/>
              </a:pPr>
              <a:r>
                <a:rPr lang="en-US" sz="2999" i="1">
                  <a:solidFill>
                    <a:srgbClr val="000000"/>
                  </a:solidFill>
                  <a:latin typeface="Times New Roman MT Italics"/>
                  <a:ea typeface="Times New Roman MT Italics"/>
                  <a:cs typeface="Times New Roman MT Italics"/>
                  <a:sym typeface="Times New Roman MT Italics"/>
                </a:rPr>
                <a:t>Shows how power climbs and stabilizes at its peak.</a:t>
              </a:r>
            </a:p>
            <a:p>
              <a:pPr marL="647695" lvl="1" indent="-323848" algn="ctr">
                <a:lnSpc>
                  <a:spcPts val="4139"/>
                </a:lnSpc>
                <a:buFont typeface="Arial"/>
                <a:buChar char="•"/>
              </a:pPr>
              <a:r>
                <a:rPr lang="en-US" sz="2999" i="1">
                  <a:solidFill>
                    <a:srgbClr val="000000"/>
                  </a:solidFill>
                  <a:latin typeface="Times New Roman MT Italics"/>
                  <a:ea typeface="Times New Roman MT Italics"/>
                  <a:cs typeface="Times New Roman MT Italics"/>
                  <a:sym typeface="Times New Roman MT Italics"/>
                </a:rPr>
                <a:t>Shows how changes in sun light and temperature affect performance.</a:t>
              </a:r>
            </a:p>
          </p:txBody>
        </p:sp>
      </p:grpSp>
      <p:grpSp>
        <p:nvGrpSpPr>
          <p:cNvPr id="9" name="Group 9"/>
          <p:cNvGrpSpPr/>
          <p:nvPr/>
        </p:nvGrpSpPr>
        <p:grpSpPr>
          <a:xfrm>
            <a:off x="6604499" y="3621312"/>
            <a:ext cx="4791540" cy="2376798"/>
            <a:chOff x="0" y="0"/>
            <a:chExt cx="1261969" cy="625988"/>
          </a:xfrm>
        </p:grpSpPr>
        <p:sp>
          <p:nvSpPr>
            <p:cNvPr id="10" name="Freeform 10"/>
            <p:cNvSpPr/>
            <p:nvPr/>
          </p:nvSpPr>
          <p:spPr>
            <a:xfrm>
              <a:off x="0" y="0"/>
              <a:ext cx="1261969" cy="625988"/>
            </a:xfrm>
            <a:custGeom>
              <a:avLst/>
              <a:gdLst/>
              <a:ahLst/>
              <a:cxnLst/>
              <a:rect l="l" t="t" r="r" b="b"/>
              <a:pathLst>
                <a:path w="1261969" h="625988">
                  <a:moveTo>
                    <a:pt x="1261969" y="312994"/>
                  </a:moveTo>
                  <a:lnTo>
                    <a:pt x="855569" y="0"/>
                  </a:lnTo>
                  <a:lnTo>
                    <a:pt x="855569" y="203200"/>
                  </a:lnTo>
                  <a:lnTo>
                    <a:pt x="0" y="203200"/>
                  </a:lnTo>
                  <a:lnTo>
                    <a:pt x="0" y="422788"/>
                  </a:lnTo>
                  <a:lnTo>
                    <a:pt x="855569" y="422788"/>
                  </a:lnTo>
                  <a:lnTo>
                    <a:pt x="855569" y="625988"/>
                  </a:lnTo>
                  <a:lnTo>
                    <a:pt x="1261969" y="312994"/>
                  </a:lnTo>
                  <a:close/>
                </a:path>
              </a:pathLst>
            </a:custGeom>
            <a:solidFill>
              <a:srgbClr val="3BB3D2"/>
            </a:solidFill>
          </p:spPr>
          <p:txBody>
            <a:bodyPr/>
            <a:lstStyle/>
            <a:p>
              <a:endParaRPr lang="en-US"/>
            </a:p>
          </p:txBody>
        </p:sp>
        <p:sp>
          <p:nvSpPr>
            <p:cNvPr id="11" name="TextBox 11"/>
            <p:cNvSpPr txBox="1"/>
            <p:nvPr/>
          </p:nvSpPr>
          <p:spPr>
            <a:xfrm>
              <a:off x="0" y="117475"/>
              <a:ext cx="1160369" cy="305313"/>
            </a:xfrm>
            <a:prstGeom prst="rect">
              <a:avLst/>
            </a:prstGeom>
          </p:spPr>
          <p:txBody>
            <a:bodyPr lIns="50800" tIns="50800" rIns="50800" bIns="50800" rtlCol="0" anchor="ctr"/>
            <a:lstStyle/>
            <a:p>
              <a:pPr algn="ctr">
                <a:lnSpc>
                  <a:spcPts val="3035"/>
                </a:lnSpc>
              </a:pPr>
              <a:endParaRPr/>
            </a:p>
          </p:txBody>
        </p:sp>
      </p:grpSp>
      <p:sp>
        <p:nvSpPr>
          <p:cNvPr id="12" name="TextBox 12"/>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13" name="TextBox 13"/>
          <p:cNvSpPr txBox="1"/>
          <p:nvPr/>
        </p:nvSpPr>
        <p:spPr>
          <a:xfrm>
            <a:off x="15205725" y="9597750"/>
            <a:ext cx="2426550" cy="381000"/>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1</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E9EC8-F9FF-166C-EEB2-84D4596DCCB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A0691B6-FF73-732D-6097-A8DFF4A65491}"/>
              </a:ext>
            </a:extLst>
          </p:cNvPr>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sp>
        <p:nvSpPr>
          <p:cNvPr id="5" name="TextBox 5">
            <a:extLst>
              <a:ext uri="{FF2B5EF4-FFF2-40B4-BE49-F238E27FC236}">
                <a16:creationId xmlns:a16="http://schemas.microsoft.com/office/drawing/2014/main" id="{DE047824-3B73-3D75-2D2B-A2F78B219A41}"/>
              </a:ext>
            </a:extLst>
          </p:cNvPr>
          <p:cNvSpPr txBox="1"/>
          <p:nvPr/>
        </p:nvSpPr>
        <p:spPr>
          <a:xfrm>
            <a:off x="554775" y="5488559"/>
            <a:ext cx="7289035" cy="3556248"/>
          </a:xfrm>
          <a:prstGeom prst="rect">
            <a:avLst/>
          </a:prstGeom>
        </p:spPr>
        <p:txBody>
          <a:bodyPr lIns="50800" tIns="50800" rIns="50800" bIns="50800" rtlCol="0" anchor="ctr"/>
          <a:lstStyle/>
          <a:p>
            <a:pPr algn="ctr">
              <a:lnSpc>
                <a:spcPts val="4415"/>
              </a:lnSpc>
            </a:pPr>
            <a:endParaRPr lang="en-US" sz="3199" i="1" dirty="0">
              <a:solidFill>
                <a:srgbClr val="000000"/>
              </a:solidFill>
              <a:latin typeface="Times New Roman MT Italics"/>
              <a:ea typeface="Times New Roman MT Italics"/>
              <a:cs typeface="Times New Roman MT Italics"/>
              <a:sym typeface="Times New Roman MT Italics"/>
            </a:endParaRPr>
          </a:p>
        </p:txBody>
      </p:sp>
      <p:sp>
        <p:nvSpPr>
          <p:cNvPr id="8" name="TextBox 8">
            <a:extLst>
              <a:ext uri="{FF2B5EF4-FFF2-40B4-BE49-F238E27FC236}">
                <a16:creationId xmlns:a16="http://schemas.microsoft.com/office/drawing/2014/main" id="{1F18ABF7-15A6-8F1A-171C-39217959AAFB}"/>
              </a:ext>
            </a:extLst>
          </p:cNvPr>
          <p:cNvSpPr txBox="1"/>
          <p:nvPr/>
        </p:nvSpPr>
        <p:spPr>
          <a:xfrm>
            <a:off x="554775" y="1523549"/>
            <a:ext cx="7474574" cy="3274468"/>
          </a:xfrm>
          <a:prstGeom prst="rect">
            <a:avLst/>
          </a:prstGeom>
        </p:spPr>
        <p:txBody>
          <a:bodyPr lIns="50800" tIns="50800" rIns="50800" bIns="50800" rtlCol="0" anchor="ctr"/>
          <a:lstStyle/>
          <a:p>
            <a:pPr algn="ctr">
              <a:lnSpc>
                <a:spcPts val="4415"/>
              </a:lnSpc>
            </a:pPr>
            <a:endParaRPr lang="en-US" sz="3199" i="1" dirty="0">
              <a:solidFill>
                <a:srgbClr val="000000"/>
              </a:solidFill>
              <a:latin typeface="Times New Roman MT Italics"/>
              <a:ea typeface="Times New Roman MT Italics"/>
              <a:cs typeface="Times New Roman MT Italics"/>
              <a:sym typeface="Times New Roman MT Italics"/>
            </a:endParaRPr>
          </a:p>
        </p:txBody>
      </p:sp>
      <p:sp>
        <p:nvSpPr>
          <p:cNvPr id="9" name="TextBox 9">
            <a:extLst>
              <a:ext uri="{FF2B5EF4-FFF2-40B4-BE49-F238E27FC236}">
                <a16:creationId xmlns:a16="http://schemas.microsoft.com/office/drawing/2014/main" id="{4FB7CDEA-23A5-F681-7CED-EE01C23A2B8B}"/>
              </a:ext>
            </a:extLst>
          </p:cNvPr>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10" name="TextBox 10">
            <a:extLst>
              <a:ext uri="{FF2B5EF4-FFF2-40B4-BE49-F238E27FC236}">
                <a16:creationId xmlns:a16="http://schemas.microsoft.com/office/drawing/2014/main" id="{96B7FAB6-8DBB-0301-678A-8D4AA4FB814F}"/>
              </a:ext>
            </a:extLst>
          </p:cNvPr>
          <p:cNvSpPr txBox="1"/>
          <p:nvPr/>
        </p:nvSpPr>
        <p:spPr>
          <a:xfrm>
            <a:off x="15205725" y="9597750"/>
            <a:ext cx="2426550" cy="572775"/>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1</a:t>
            </a:r>
          </a:p>
        </p:txBody>
      </p:sp>
      <p:sp>
        <p:nvSpPr>
          <p:cNvPr id="11" name="TextBox 11">
            <a:extLst>
              <a:ext uri="{FF2B5EF4-FFF2-40B4-BE49-F238E27FC236}">
                <a16:creationId xmlns:a16="http://schemas.microsoft.com/office/drawing/2014/main" id="{6A3F41B4-A8E0-3661-1CF3-43F737FD533A}"/>
              </a:ext>
            </a:extLst>
          </p:cNvPr>
          <p:cNvSpPr txBox="1"/>
          <p:nvPr/>
        </p:nvSpPr>
        <p:spPr>
          <a:xfrm>
            <a:off x="204575" y="839762"/>
            <a:ext cx="8451142" cy="611514"/>
          </a:xfrm>
          <a:prstGeom prst="rect">
            <a:avLst/>
          </a:prstGeom>
        </p:spPr>
        <p:txBody>
          <a:bodyPr wrap="square" lIns="0" tIns="0" rIns="0" bIns="0" rtlCol="0" anchor="t">
            <a:spAutoFit/>
          </a:bodyPr>
          <a:lstStyle/>
          <a:p>
            <a:pPr algn="ctr">
              <a:lnSpc>
                <a:spcPts val="4967"/>
              </a:lnSpc>
              <a:spcBef>
                <a:spcPct val="0"/>
              </a:spcBef>
            </a:pPr>
            <a:r>
              <a:rPr lang="en-US" sz="3599" b="1" i="1" dirty="0">
                <a:solidFill>
                  <a:srgbClr val="000000"/>
                </a:solidFill>
                <a:latin typeface="Times New Roman MT Bold Italics"/>
                <a:ea typeface="Times New Roman MT Bold Italics"/>
                <a:cs typeface="Times New Roman MT Bold Italics"/>
                <a:sym typeface="Times New Roman MT Bold Italics"/>
              </a:rPr>
              <a:t>ML MODELS USED AND RESULTS</a:t>
            </a:r>
          </a:p>
        </p:txBody>
      </p:sp>
      <p:sp>
        <p:nvSpPr>
          <p:cNvPr id="14" name="TextBox 14">
            <a:extLst>
              <a:ext uri="{FF2B5EF4-FFF2-40B4-BE49-F238E27FC236}">
                <a16:creationId xmlns:a16="http://schemas.microsoft.com/office/drawing/2014/main" id="{72C3E5E1-A812-D3F4-96E1-656D07E070D1}"/>
              </a:ext>
            </a:extLst>
          </p:cNvPr>
          <p:cNvSpPr txBox="1"/>
          <p:nvPr/>
        </p:nvSpPr>
        <p:spPr>
          <a:xfrm>
            <a:off x="9282085" y="1241769"/>
            <a:ext cx="7642123" cy="3556248"/>
          </a:xfrm>
          <a:prstGeom prst="rect">
            <a:avLst/>
          </a:prstGeom>
        </p:spPr>
        <p:txBody>
          <a:bodyPr lIns="50800" tIns="50800" rIns="50800" bIns="50800" rtlCol="0" anchor="ctr"/>
          <a:lstStyle/>
          <a:p>
            <a:pPr algn="ctr">
              <a:lnSpc>
                <a:spcPts val="4415"/>
              </a:lnSpc>
            </a:pPr>
            <a:endParaRPr lang="en-US" sz="3199" i="1" dirty="0">
              <a:solidFill>
                <a:srgbClr val="000000"/>
              </a:solidFill>
              <a:latin typeface="Times New Roman MT Italics"/>
              <a:ea typeface="Times New Roman MT Italics"/>
              <a:cs typeface="Times New Roman MT Italics"/>
              <a:sym typeface="Times New Roman MT Italics"/>
            </a:endParaRPr>
          </a:p>
        </p:txBody>
      </p:sp>
      <p:sp>
        <p:nvSpPr>
          <p:cNvPr id="17" name="TextBox 17">
            <a:extLst>
              <a:ext uri="{FF2B5EF4-FFF2-40B4-BE49-F238E27FC236}">
                <a16:creationId xmlns:a16="http://schemas.microsoft.com/office/drawing/2014/main" id="{29AB4E82-8FEA-5C2B-BD23-B5734EA1BC15}"/>
              </a:ext>
            </a:extLst>
          </p:cNvPr>
          <p:cNvSpPr txBox="1"/>
          <p:nvPr/>
        </p:nvSpPr>
        <p:spPr>
          <a:xfrm>
            <a:off x="9282085" y="5488559"/>
            <a:ext cx="7642123" cy="3556248"/>
          </a:xfrm>
          <a:prstGeom prst="rect">
            <a:avLst/>
          </a:prstGeom>
        </p:spPr>
        <p:txBody>
          <a:bodyPr lIns="50800" tIns="50800" rIns="50800" bIns="50800" rtlCol="0" anchor="ctr"/>
          <a:lstStyle/>
          <a:p>
            <a:pPr algn="ctr">
              <a:lnSpc>
                <a:spcPts val="4415"/>
              </a:lnSpc>
            </a:pPr>
            <a:endParaRPr lang="en-US" sz="3199" i="1" dirty="0">
              <a:solidFill>
                <a:srgbClr val="000000"/>
              </a:solidFill>
              <a:latin typeface="Times New Roman MT Italics"/>
              <a:ea typeface="Times New Roman MT Italics"/>
              <a:cs typeface="Times New Roman MT Italics"/>
              <a:sym typeface="Times New Roman MT Italics"/>
            </a:endParaRPr>
          </a:p>
        </p:txBody>
      </p:sp>
      <p:pic>
        <p:nvPicPr>
          <p:cNvPr id="20" name="Picture 19" descr="A black and white rectangular object with numbers&#10;&#10;AI-generated content may be incorrect.">
            <a:extLst>
              <a:ext uri="{FF2B5EF4-FFF2-40B4-BE49-F238E27FC236}">
                <a16:creationId xmlns:a16="http://schemas.microsoft.com/office/drawing/2014/main" id="{94F8020F-B88E-7969-106A-F9FED4277215}"/>
              </a:ext>
            </a:extLst>
          </p:cNvPr>
          <p:cNvPicPr>
            <a:picLocks noChangeAspect="1"/>
          </p:cNvPicPr>
          <p:nvPr/>
        </p:nvPicPr>
        <p:blipFill>
          <a:blip r:embed="rId3">
            <a:extLst>
              <a:ext uri="{28A0092B-C50C-407E-A947-70E740481C1C}">
                <a14:useLocalDpi xmlns:a14="http://schemas.microsoft.com/office/drawing/2010/main" val="0"/>
              </a:ext>
            </a:extLst>
          </a:blip>
          <a:srcRect t="26522" b="25930"/>
          <a:stretch>
            <a:fillRect/>
          </a:stretch>
        </p:blipFill>
        <p:spPr>
          <a:xfrm>
            <a:off x="7051749" y="1955294"/>
            <a:ext cx="10712726" cy="3274468"/>
          </a:xfrm>
          <a:prstGeom prst="rect">
            <a:avLst/>
          </a:prstGeom>
        </p:spPr>
      </p:pic>
      <p:sp>
        <p:nvSpPr>
          <p:cNvPr id="23" name="TextBox 22">
            <a:extLst>
              <a:ext uri="{FF2B5EF4-FFF2-40B4-BE49-F238E27FC236}">
                <a16:creationId xmlns:a16="http://schemas.microsoft.com/office/drawing/2014/main" id="{F6ADE665-F9D4-0F9A-1572-01A0B6AECE1F}"/>
              </a:ext>
            </a:extLst>
          </p:cNvPr>
          <p:cNvSpPr txBox="1"/>
          <p:nvPr/>
        </p:nvSpPr>
        <p:spPr>
          <a:xfrm>
            <a:off x="7345707" y="5350960"/>
            <a:ext cx="10286568" cy="3539430"/>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We are using NASA Power API to get datasets of irradiance and temperature and we use regression models like Random Forest and LSTM to predict solar power from weather data. Once we know the expected power output, we can use if for panel type suggestions, and panel planning, investment decisions for companies and energy management to estimate solar power.</a:t>
            </a:r>
          </a:p>
        </p:txBody>
      </p:sp>
      <p:grpSp>
        <p:nvGrpSpPr>
          <p:cNvPr id="24" name="Group 6">
            <a:extLst>
              <a:ext uri="{FF2B5EF4-FFF2-40B4-BE49-F238E27FC236}">
                <a16:creationId xmlns:a16="http://schemas.microsoft.com/office/drawing/2014/main" id="{AA75332E-C872-260A-6B96-B692CCB220BD}"/>
              </a:ext>
            </a:extLst>
          </p:cNvPr>
          <p:cNvGrpSpPr/>
          <p:nvPr/>
        </p:nvGrpSpPr>
        <p:grpSpPr>
          <a:xfrm>
            <a:off x="718914" y="736626"/>
            <a:ext cx="13749910" cy="8041164"/>
            <a:chOff x="-2048457" y="-114300"/>
            <a:chExt cx="3621375" cy="2117837"/>
          </a:xfrm>
        </p:grpSpPr>
        <p:sp>
          <p:nvSpPr>
            <p:cNvPr id="25" name="Freeform 7">
              <a:extLst>
                <a:ext uri="{FF2B5EF4-FFF2-40B4-BE49-F238E27FC236}">
                  <a16:creationId xmlns:a16="http://schemas.microsoft.com/office/drawing/2014/main" id="{40954185-B124-EE2A-11AB-CCD2758B16B8}"/>
                </a:ext>
              </a:extLst>
            </p:cNvPr>
            <p:cNvSpPr/>
            <p:nvPr/>
          </p:nvSpPr>
          <p:spPr>
            <a:xfrm>
              <a:off x="-2048457" y="234699"/>
              <a:ext cx="1572918" cy="1768838"/>
            </a:xfrm>
            <a:custGeom>
              <a:avLst/>
              <a:gdLst/>
              <a:ahLst/>
              <a:cxnLst/>
              <a:rect l="l" t="t" r="r" b="b"/>
              <a:pathLst>
                <a:path w="1572918" h="1768838">
                  <a:moveTo>
                    <a:pt x="66113" y="0"/>
                  </a:moveTo>
                  <a:lnTo>
                    <a:pt x="1506805" y="0"/>
                  </a:lnTo>
                  <a:cubicBezTo>
                    <a:pt x="1524339" y="0"/>
                    <a:pt x="1541156" y="6965"/>
                    <a:pt x="1553554" y="19364"/>
                  </a:cubicBezTo>
                  <a:cubicBezTo>
                    <a:pt x="1565953" y="31763"/>
                    <a:pt x="1572918" y="48579"/>
                    <a:pt x="1572918" y="66113"/>
                  </a:cubicBezTo>
                  <a:lnTo>
                    <a:pt x="1572918" y="1702725"/>
                  </a:lnTo>
                  <a:cubicBezTo>
                    <a:pt x="1572918" y="1720260"/>
                    <a:pt x="1565953" y="1737076"/>
                    <a:pt x="1553554" y="1749474"/>
                  </a:cubicBezTo>
                  <a:cubicBezTo>
                    <a:pt x="1541156" y="1761873"/>
                    <a:pt x="1524339" y="1768838"/>
                    <a:pt x="1506805" y="1768838"/>
                  </a:cubicBezTo>
                  <a:lnTo>
                    <a:pt x="66113" y="1768838"/>
                  </a:lnTo>
                  <a:cubicBezTo>
                    <a:pt x="48579" y="1768838"/>
                    <a:pt x="31763" y="1761873"/>
                    <a:pt x="19364" y="1749474"/>
                  </a:cubicBezTo>
                  <a:cubicBezTo>
                    <a:pt x="6965" y="1737076"/>
                    <a:pt x="0" y="1720260"/>
                    <a:pt x="0" y="1702725"/>
                  </a:cubicBezTo>
                  <a:lnTo>
                    <a:pt x="0" y="66113"/>
                  </a:lnTo>
                  <a:cubicBezTo>
                    <a:pt x="0" y="48579"/>
                    <a:pt x="6965" y="31763"/>
                    <a:pt x="19364" y="19364"/>
                  </a:cubicBezTo>
                  <a:cubicBezTo>
                    <a:pt x="31763" y="6965"/>
                    <a:pt x="48579" y="0"/>
                    <a:pt x="66113" y="0"/>
                  </a:cubicBezTo>
                  <a:close/>
                </a:path>
              </a:pathLst>
            </a:custGeom>
            <a:solidFill>
              <a:srgbClr val="3BB3D2"/>
            </a:solidFill>
          </p:spPr>
          <p:txBody>
            <a:bodyPr/>
            <a:lstStyle/>
            <a:p>
              <a:endParaRPr lang="en-US" dirty="0"/>
            </a:p>
          </p:txBody>
        </p:sp>
        <p:sp>
          <p:nvSpPr>
            <p:cNvPr id="26" name="TextBox 8">
              <a:extLst>
                <a:ext uri="{FF2B5EF4-FFF2-40B4-BE49-F238E27FC236}">
                  <a16:creationId xmlns:a16="http://schemas.microsoft.com/office/drawing/2014/main" id="{B1203415-C289-E859-4DF2-A132D3E32790}"/>
                </a:ext>
              </a:extLst>
            </p:cNvPr>
            <p:cNvSpPr txBox="1"/>
            <p:nvPr/>
          </p:nvSpPr>
          <p:spPr>
            <a:xfrm>
              <a:off x="0" y="-114300"/>
              <a:ext cx="1572918" cy="1883138"/>
            </a:xfrm>
            <a:prstGeom prst="rect">
              <a:avLst/>
            </a:prstGeom>
          </p:spPr>
          <p:txBody>
            <a:bodyPr lIns="50800" tIns="50800" rIns="50800" bIns="50800" rtlCol="0" anchor="ctr"/>
            <a:lstStyle/>
            <a:p>
              <a:pPr algn="ctr">
                <a:lnSpc>
                  <a:spcPts val="4139"/>
                </a:lnSpc>
              </a:pPr>
              <a:endParaRPr lang="en-US" sz="2999" i="1" dirty="0">
                <a:solidFill>
                  <a:srgbClr val="000000"/>
                </a:solidFill>
                <a:latin typeface="Times New Roman MT Italics"/>
                <a:ea typeface="Times New Roman MT Italics"/>
                <a:cs typeface="Times New Roman MT Italics"/>
                <a:sym typeface="Times New Roman MT Italics"/>
              </a:endParaRPr>
            </a:p>
          </p:txBody>
        </p:sp>
      </p:grpSp>
      <p:sp>
        <p:nvSpPr>
          <p:cNvPr id="28" name="TextBox 27">
            <a:extLst>
              <a:ext uri="{FF2B5EF4-FFF2-40B4-BE49-F238E27FC236}">
                <a16:creationId xmlns:a16="http://schemas.microsoft.com/office/drawing/2014/main" id="{592C2012-AC84-3D47-3F82-79B9D3F72813}"/>
              </a:ext>
            </a:extLst>
          </p:cNvPr>
          <p:cNvSpPr txBox="1"/>
          <p:nvPr/>
        </p:nvSpPr>
        <p:spPr>
          <a:xfrm>
            <a:off x="935306" y="2632403"/>
            <a:ext cx="5567211" cy="6124754"/>
          </a:xfrm>
          <a:prstGeom prst="rect">
            <a:avLst/>
          </a:prstGeom>
          <a:noFill/>
        </p:spPr>
        <p:txBody>
          <a:bodyPr wrap="square">
            <a:spAutoFit/>
          </a:bodyPr>
          <a:lstStyle/>
          <a:p>
            <a:pPr algn="ctr"/>
            <a:r>
              <a:rPr lang="en-US" sz="2800" dirty="0">
                <a:latin typeface="Times New Roman" panose="02020603050405020304" pitchFamily="18" charset="0"/>
                <a:cs typeface="Times New Roman" panose="02020603050405020304" pitchFamily="18" charset="0"/>
              </a:rPr>
              <a:t>1. Random Forest: Random Forest will look at inputs like irradiance, temperature and predict the power output.</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2. LSTM (Long Short Term Memory): Normal models may forget yesterday’s weather, but LSTM can remember patterns over days, weeks, or months.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LSTM can use past weather and power data to forecast future solar power.</a:t>
            </a:r>
          </a:p>
          <a:p>
            <a:pPr algn="ct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99677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554775" y="5958707"/>
            <a:ext cx="7289035" cy="3086100"/>
            <a:chOff x="0" y="0"/>
            <a:chExt cx="1919746" cy="812800"/>
          </a:xfrm>
        </p:grpSpPr>
        <p:sp>
          <p:nvSpPr>
            <p:cNvPr id="4" name="Freeform 4"/>
            <p:cNvSpPr/>
            <p:nvPr/>
          </p:nvSpPr>
          <p:spPr>
            <a:xfrm>
              <a:off x="0" y="0"/>
              <a:ext cx="1919746" cy="812800"/>
            </a:xfrm>
            <a:custGeom>
              <a:avLst/>
              <a:gdLst/>
              <a:ahLst/>
              <a:cxnLst/>
              <a:rect l="l" t="t" r="r" b="b"/>
              <a:pathLst>
                <a:path w="1919746" h="812800">
                  <a:moveTo>
                    <a:pt x="54169" y="0"/>
                  </a:moveTo>
                  <a:lnTo>
                    <a:pt x="1865577" y="0"/>
                  </a:lnTo>
                  <a:cubicBezTo>
                    <a:pt x="1879944" y="0"/>
                    <a:pt x="1893722" y="5707"/>
                    <a:pt x="1903880" y="15866"/>
                  </a:cubicBezTo>
                  <a:cubicBezTo>
                    <a:pt x="1914039" y="26024"/>
                    <a:pt x="1919746" y="39802"/>
                    <a:pt x="1919746" y="54169"/>
                  </a:cubicBezTo>
                  <a:lnTo>
                    <a:pt x="1919746" y="758631"/>
                  </a:lnTo>
                  <a:cubicBezTo>
                    <a:pt x="1919746" y="772998"/>
                    <a:pt x="1914039" y="786776"/>
                    <a:pt x="1903880" y="796934"/>
                  </a:cubicBezTo>
                  <a:cubicBezTo>
                    <a:pt x="1893722" y="807093"/>
                    <a:pt x="1879944" y="812800"/>
                    <a:pt x="1865577" y="812800"/>
                  </a:cubicBezTo>
                  <a:lnTo>
                    <a:pt x="54169" y="812800"/>
                  </a:lnTo>
                  <a:cubicBezTo>
                    <a:pt x="39802" y="812800"/>
                    <a:pt x="26024" y="807093"/>
                    <a:pt x="15866" y="796934"/>
                  </a:cubicBezTo>
                  <a:cubicBezTo>
                    <a:pt x="5707" y="786776"/>
                    <a:pt x="0" y="772998"/>
                    <a:pt x="0" y="758631"/>
                  </a:cubicBezTo>
                  <a:lnTo>
                    <a:pt x="0" y="54169"/>
                  </a:lnTo>
                  <a:cubicBezTo>
                    <a:pt x="0" y="39802"/>
                    <a:pt x="5707" y="26024"/>
                    <a:pt x="15866" y="15866"/>
                  </a:cubicBezTo>
                  <a:cubicBezTo>
                    <a:pt x="26024" y="5707"/>
                    <a:pt x="39802" y="0"/>
                    <a:pt x="54169" y="0"/>
                  </a:cubicBezTo>
                  <a:close/>
                </a:path>
              </a:pathLst>
            </a:custGeom>
            <a:solidFill>
              <a:srgbClr val="3BB3D2"/>
            </a:solidFill>
          </p:spPr>
          <p:txBody>
            <a:bodyPr/>
            <a:lstStyle/>
            <a:p>
              <a:endParaRPr lang="en-US"/>
            </a:p>
          </p:txBody>
        </p:sp>
        <p:sp>
          <p:nvSpPr>
            <p:cNvPr id="5" name="TextBox 5"/>
            <p:cNvSpPr txBox="1"/>
            <p:nvPr/>
          </p:nvSpPr>
          <p:spPr>
            <a:xfrm>
              <a:off x="0" y="-123825"/>
              <a:ext cx="1919746" cy="936625"/>
            </a:xfrm>
            <a:prstGeom prst="rect">
              <a:avLst/>
            </a:prstGeom>
          </p:spPr>
          <p:txBody>
            <a:bodyPr lIns="50800" tIns="50800" rIns="50800" bIns="50800" rtlCol="0" anchor="ctr"/>
            <a:lstStyle/>
            <a:p>
              <a:pPr algn="ctr">
                <a:lnSpc>
                  <a:spcPts val="4415"/>
                </a:lnSpc>
              </a:pPr>
              <a:r>
                <a:rPr lang="en-US" sz="3199" i="1">
                  <a:solidFill>
                    <a:srgbClr val="000000"/>
                  </a:solidFill>
                  <a:latin typeface="Times New Roman MT Italics"/>
                  <a:ea typeface="Times New Roman MT Italics"/>
                  <a:cs typeface="Times New Roman MT Italics"/>
                  <a:sym typeface="Times New Roman MT Italics"/>
                </a:rPr>
                <a:t>Integration With Smart Grids</a:t>
              </a:r>
            </a:p>
          </p:txBody>
        </p:sp>
      </p:grpSp>
      <p:grpSp>
        <p:nvGrpSpPr>
          <p:cNvPr id="6" name="Group 6"/>
          <p:cNvGrpSpPr/>
          <p:nvPr/>
        </p:nvGrpSpPr>
        <p:grpSpPr>
          <a:xfrm>
            <a:off x="554775" y="1711917"/>
            <a:ext cx="7474574" cy="3086100"/>
            <a:chOff x="0" y="0"/>
            <a:chExt cx="1968612" cy="812800"/>
          </a:xfrm>
        </p:grpSpPr>
        <p:sp>
          <p:nvSpPr>
            <p:cNvPr id="7" name="Freeform 7"/>
            <p:cNvSpPr/>
            <p:nvPr/>
          </p:nvSpPr>
          <p:spPr>
            <a:xfrm>
              <a:off x="0" y="0"/>
              <a:ext cx="1968612" cy="812800"/>
            </a:xfrm>
            <a:custGeom>
              <a:avLst/>
              <a:gdLst/>
              <a:ahLst/>
              <a:cxnLst/>
              <a:rect l="l" t="t" r="r" b="b"/>
              <a:pathLst>
                <a:path w="1968612" h="812800">
                  <a:moveTo>
                    <a:pt x="52824" y="0"/>
                  </a:moveTo>
                  <a:lnTo>
                    <a:pt x="1915788" y="0"/>
                  </a:lnTo>
                  <a:cubicBezTo>
                    <a:pt x="1929798" y="0"/>
                    <a:pt x="1943234" y="5565"/>
                    <a:pt x="1953140" y="15472"/>
                  </a:cubicBezTo>
                  <a:cubicBezTo>
                    <a:pt x="1963047" y="25378"/>
                    <a:pt x="1968612" y="38814"/>
                    <a:pt x="1968612" y="52824"/>
                  </a:cubicBezTo>
                  <a:lnTo>
                    <a:pt x="1968612" y="759976"/>
                  </a:lnTo>
                  <a:cubicBezTo>
                    <a:pt x="1968612" y="773986"/>
                    <a:pt x="1963047" y="787422"/>
                    <a:pt x="1953140" y="797328"/>
                  </a:cubicBezTo>
                  <a:cubicBezTo>
                    <a:pt x="1943234" y="807235"/>
                    <a:pt x="1929798" y="812800"/>
                    <a:pt x="1915788" y="812800"/>
                  </a:cubicBezTo>
                  <a:lnTo>
                    <a:pt x="52824" y="812800"/>
                  </a:lnTo>
                  <a:cubicBezTo>
                    <a:pt x="38814" y="812800"/>
                    <a:pt x="25378" y="807235"/>
                    <a:pt x="15472" y="797328"/>
                  </a:cubicBezTo>
                  <a:cubicBezTo>
                    <a:pt x="5565" y="787422"/>
                    <a:pt x="0" y="773986"/>
                    <a:pt x="0" y="759976"/>
                  </a:cubicBezTo>
                  <a:lnTo>
                    <a:pt x="0" y="52824"/>
                  </a:lnTo>
                  <a:cubicBezTo>
                    <a:pt x="0" y="38814"/>
                    <a:pt x="5565" y="25378"/>
                    <a:pt x="15472" y="15472"/>
                  </a:cubicBezTo>
                  <a:cubicBezTo>
                    <a:pt x="25378" y="5565"/>
                    <a:pt x="38814" y="0"/>
                    <a:pt x="52824" y="0"/>
                  </a:cubicBezTo>
                  <a:close/>
                </a:path>
              </a:pathLst>
            </a:custGeom>
            <a:solidFill>
              <a:srgbClr val="3BB3D2"/>
            </a:solidFill>
          </p:spPr>
          <p:txBody>
            <a:bodyPr/>
            <a:lstStyle/>
            <a:p>
              <a:endParaRPr lang="en-US"/>
            </a:p>
          </p:txBody>
        </p:sp>
        <p:sp>
          <p:nvSpPr>
            <p:cNvPr id="8" name="TextBox 8"/>
            <p:cNvSpPr txBox="1"/>
            <p:nvPr/>
          </p:nvSpPr>
          <p:spPr>
            <a:xfrm>
              <a:off x="0" y="-123825"/>
              <a:ext cx="1968612" cy="936625"/>
            </a:xfrm>
            <a:prstGeom prst="rect">
              <a:avLst/>
            </a:prstGeom>
          </p:spPr>
          <p:txBody>
            <a:bodyPr lIns="50800" tIns="50800" rIns="50800" bIns="50800" rtlCol="0" anchor="ctr"/>
            <a:lstStyle/>
            <a:p>
              <a:pPr algn="ctr">
                <a:lnSpc>
                  <a:spcPts val="4415"/>
                </a:lnSpc>
              </a:pPr>
              <a:endParaRPr dirty="0"/>
            </a:p>
            <a:p>
              <a:pPr algn="ctr">
                <a:lnSpc>
                  <a:spcPts val="4415"/>
                </a:lnSpc>
              </a:pPr>
              <a:r>
                <a:rPr lang="en-US" sz="3199" i="1" dirty="0">
                  <a:solidFill>
                    <a:srgbClr val="000000"/>
                  </a:solidFill>
                  <a:latin typeface="Times New Roman MT Italics"/>
                  <a:ea typeface="Times New Roman MT Italics"/>
                  <a:cs typeface="Times New Roman MT Italics"/>
                  <a:sym typeface="Times New Roman MT Italics"/>
                </a:rPr>
                <a:t>Application in rural and remote areas for reliable power supply</a:t>
              </a:r>
            </a:p>
            <a:p>
              <a:pPr algn="ctr">
                <a:lnSpc>
                  <a:spcPts val="4415"/>
                </a:lnSpc>
              </a:pPr>
              <a:endParaRPr lang="en-US" sz="3199" i="1" dirty="0">
                <a:solidFill>
                  <a:srgbClr val="000000"/>
                </a:solidFill>
                <a:latin typeface="Times New Roman MT Italics"/>
                <a:ea typeface="Times New Roman MT Italics"/>
                <a:cs typeface="Times New Roman MT Italics"/>
                <a:sym typeface="Times New Roman MT Italics"/>
              </a:endParaRPr>
            </a:p>
          </p:txBody>
        </p:sp>
      </p:grpSp>
      <p:sp>
        <p:nvSpPr>
          <p:cNvPr id="9" name="TextBox 9"/>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10" name="TextBox 10"/>
          <p:cNvSpPr txBox="1"/>
          <p:nvPr/>
        </p:nvSpPr>
        <p:spPr>
          <a:xfrm>
            <a:off x="15205725" y="9597750"/>
            <a:ext cx="2426550" cy="572775"/>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1</a:t>
            </a:r>
          </a:p>
        </p:txBody>
      </p:sp>
      <p:sp>
        <p:nvSpPr>
          <p:cNvPr id="11" name="TextBox 11"/>
          <p:cNvSpPr txBox="1"/>
          <p:nvPr/>
        </p:nvSpPr>
        <p:spPr>
          <a:xfrm>
            <a:off x="554775" y="895350"/>
            <a:ext cx="2614374" cy="679705"/>
          </a:xfrm>
          <a:prstGeom prst="rect">
            <a:avLst/>
          </a:prstGeom>
        </p:spPr>
        <p:txBody>
          <a:bodyPr lIns="0" tIns="0" rIns="0" bIns="0" rtlCol="0" anchor="t">
            <a:spAutoFit/>
          </a:bodyPr>
          <a:lstStyle/>
          <a:p>
            <a:pPr algn="ctr">
              <a:lnSpc>
                <a:spcPts val="4967"/>
              </a:lnSpc>
              <a:spcBef>
                <a:spcPct val="0"/>
              </a:spcBef>
            </a:pPr>
            <a:r>
              <a:rPr lang="en-US" sz="3599" b="1" i="1">
                <a:solidFill>
                  <a:srgbClr val="000000"/>
                </a:solidFill>
                <a:latin typeface="Times New Roman MT Bold Italics"/>
                <a:ea typeface="Times New Roman MT Bold Italics"/>
                <a:cs typeface="Times New Roman MT Bold Italics"/>
                <a:sym typeface="Times New Roman MT Bold Italics"/>
              </a:rPr>
              <a:t>Future Scope </a:t>
            </a:r>
          </a:p>
        </p:txBody>
      </p:sp>
      <p:grpSp>
        <p:nvGrpSpPr>
          <p:cNvPr id="12" name="Group 12"/>
          <p:cNvGrpSpPr/>
          <p:nvPr/>
        </p:nvGrpSpPr>
        <p:grpSpPr>
          <a:xfrm>
            <a:off x="9282085" y="1711917"/>
            <a:ext cx="7642123" cy="3086100"/>
            <a:chOff x="0" y="0"/>
            <a:chExt cx="2012740" cy="812800"/>
          </a:xfrm>
        </p:grpSpPr>
        <p:sp>
          <p:nvSpPr>
            <p:cNvPr id="13" name="Freeform 13"/>
            <p:cNvSpPr/>
            <p:nvPr/>
          </p:nvSpPr>
          <p:spPr>
            <a:xfrm>
              <a:off x="0" y="0"/>
              <a:ext cx="2012740" cy="812800"/>
            </a:xfrm>
            <a:custGeom>
              <a:avLst/>
              <a:gdLst/>
              <a:ahLst/>
              <a:cxnLst/>
              <a:rect l="l" t="t" r="r" b="b"/>
              <a:pathLst>
                <a:path w="2012740" h="812800">
                  <a:moveTo>
                    <a:pt x="51666" y="0"/>
                  </a:moveTo>
                  <a:lnTo>
                    <a:pt x="1961074" y="0"/>
                  </a:lnTo>
                  <a:cubicBezTo>
                    <a:pt x="1989608" y="0"/>
                    <a:pt x="2012740" y="23132"/>
                    <a:pt x="2012740" y="51666"/>
                  </a:cubicBezTo>
                  <a:lnTo>
                    <a:pt x="2012740" y="761134"/>
                  </a:lnTo>
                  <a:cubicBezTo>
                    <a:pt x="2012740" y="789668"/>
                    <a:pt x="1989608" y="812800"/>
                    <a:pt x="1961074" y="812800"/>
                  </a:cubicBezTo>
                  <a:lnTo>
                    <a:pt x="51666" y="812800"/>
                  </a:lnTo>
                  <a:cubicBezTo>
                    <a:pt x="23132" y="812800"/>
                    <a:pt x="0" y="789668"/>
                    <a:pt x="0" y="761134"/>
                  </a:cubicBezTo>
                  <a:lnTo>
                    <a:pt x="0" y="51666"/>
                  </a:lnTo>
                  <a:cubicBezTo>
                    <a:pt x="0" y="23132"/>
                    <a:pt x="23132" y="0"/>
                    <a:pt x="51666" y="0"/>
                  </a:cubicBezTo>
                  <a:close/>
                </a:path>
              </a:pathLst>
            </a:custGeom>
            <a:solidFill>
              <a:srgbClr val="3BB3D2"/>
            </a:solidFill>
          </p:spPr>
          <p:txBody>
            <a:bodyPr/>
            <a:lstStyle/>
            <a:p>
              <a:endParaRPr lang="en-US"/>
            </a:p>
          </p:txBody>
        </p:sp>
        <p:sp>
          <p:nvSpPr>
            <p:cNvPr id="14" name="TextBox 14"/>
            <p:cNvSpPr txBox="1"/>
            <p:nvPr/>
          </p:nvSpPr>
          <p:spPr>
            <a:xfrm>
              <a:off x="0" y="-123825"/>
              <a:ext cx="2012740" cy="936625"/>
            </a:xfrm>
            <a:prstGeom prst="rect">
              <a:avLst/>
            </a:prstGeom>
          </p:spPr>
          <p:txBody>
            <a:bodyPr lIns="50800" tIns="50800" rIns="50800" bIns="50800" rtlCol="0" anchor="ctr"/>
            <a:lstStyle/>
            <a:p>
              <a:pPr algn="ctr">
                <a:lnSpc>
                  <a:spcPts val="4415"/>
                </a:lnSpc>
              </a:pPr>
              <a:endParaRPr/>
            </a:p>
            <a:p>
              <a:pPr algn="ctr">
                <a:lnSpc>
                  <a:spcPts val="4415"/>
                </a:lnSpc>
              </a:pPr>
              <a:r>
                <a:rPr lang="en-US" sz="3199" i="1">
                  <a:solidFill>
                    <a:srgbClr val="000000"/>
                  </a:solidFill>
                  <a:latin typeface="Times New Roman MT Italics"/>
                  <a:ea typeface="Times New Roman MT Italics"/>
                  <a:cs typeface="Times New Roman MT Italics"/>
                  <a:sym typeface="Times New Roman MT Italics"/>
                </a:rPr>
                <a:t>Integration with IoT for real-time monitoring and control</a:t>
              </a:r>
            </a:p>
            <a:p>
              <a:pPr algn="ctr">
                <a:lnSpc>
                  <a:spcPts val="4415"/>
                </a:lnSpc>
              </a:pPr>
              <a:endParaRPr lang="en-US" sz="3199" i="1">
                <a:solidFill>
                  <a:srgbClr val="000000"/>
                </a:solidFill>
                <a:latin typeface="Times New Roman MT Italics"/>
                <a:ea typeface="Times New Roman MT Italics"/>
                <a:cs typeface="Times New Roman MT Italics"/>
                <a:sym typeface="Times New Roman MT Italics"/>
              </a:endParaRPr>
            </a:p>
          </p:txBody>
        </p:sp>
      </p:grpSp>
      <p:grpSp>
        <p:nvGrpSpPr>
          <p:cNvPr id="15" name="Group 15"/>
          <p:cNvGrpSpPr/>
          <p:nvPr/>
        </p:nvGrpSpPr>
        <p:grpSpPr>
          <a:xfrm>
            <a:off x="9282085" y="5958707"/>
            <a:ext cx="7642123" cy="3086100"/>
            <a:chOff x="0" y="0"/>
            <a:chExt cx="2012740" cy="812800"/>
          </a:xfrm>
        </p:grpSpPr>
        <p:sp>
          <p:nvSpPr>
            <p:cNvPr id="16" name="Freeform 16"/>
            <p:cNvSpPr/>
            <p:nvPr/>
          </p:nvSpPr>
          <p:spPr>
            <a:xfrm>
              <a:off x="0" y="0"/>
              <a:ext cx="2012740" cy="812800"/>
            </a:xfrm>
            <a:custGeom>
              <a:avLst/>
              <a:gdLst/>
              <a:ahLst/>
              <a:cxnLst/>
              <a:rect l="l" t="t" r="r" b="b"/>
              <a:pathLst>
                <a:path w="2012740" h="812800">
                  <a:moveTo>
                    <a:pt x="51666" y="0"/>
                  </a:moveTo>
                  <a:lnTo>
                    <a:pt x="1961074" y="0"/>
                  </a:lnTo>
                  <a:cubicBezTo>
                    <a:pt x="1989608" y="0"/>
                    <a:pt x="2012740" y="23132"/>
                    <a:pt x="2012740" y="51666"/>
                  </a:cubicBezTo>
                  <a:lnTo>
                    <a:pt x="2012740" y="761134"/>
                  </a:lnTo>
                  <a:cubicBezTo>
                    <a:pt x="2012740" y="789668"/>
                    <a:pt x="1989608" y="812800"/>
                    <a:pt x="1961074" y="812800"/>
                  </a:cubicBezTo>
                  <a:lnTo>
                    <a:pt x="51666" y="812800"/>
                  </a:lnTo>
                  <a:cubicBezTo>
                    <a:pt x="23132" y="812800"/>
                    <a:pt x="0" y="789668"/>
                    <a:pt x="0" y="761134"/>
                  </a:cubicBezTo>
                  <a:lnTo>
                    <a:pt x="0" y="51666"/>
                  </a:lnTo>
                  <a:cubicBezTo>
                    <a:pt x="0" y="23132"/>
                    <a:pt x="23132" y="0"/>
                    <a:pt x="51666" y="0"/>
                  </a:cubicBezTo>
                  <a:close/>
                </a:path>
              </a:pathLst>
            </a:custGeom>
            <a:solidFill>
              <a:srgbClr val="3BB3D2"/>
            </a:solidFill>
          </p:spPr>
          <p:txBody>
            <a:bodyPr/>
            <a:lstStyle/>
            <a:p>
              <a:endParaRPr lang="en-US"/>
            </a:p>
          </p:txBody>
        </p:sp>
        <p:sp>
          <p:nvSpPr>
            <p:cNvPr id="17" name="TextBox 17"/>
            <p:cNvSpPr txBox="1"/>
            <p:nvPr/>
          </p:nvSpPr>
          <p:spPr>
            <a:xfrm>
              <a:off x="0" y="-123825"/>
              <a:ext cx="2012740" cy="936625"/>
            </a:xfrm>
            <a:prstGeom prst="rect">
              <a:avLst/>
            </a:prstGeom>
          </p:spPr>
          <p:txBody>
            <a:bodyPr lIns="50800" tIns="50800" rIns="50800" bIns="50800" rtlCol="0" anchor="ctr"/>
            <a:lstStyle/>
            <a:p>
              <a:pPr algn="ctr">
                <a:lnSpc>
                  <a:spcPts val="4415"/>
                </a:lnSpc>
              </a:pPr>
              <a:endParaRPr/>
            </a:p>
            <a:p>
              <a:pPr algn="ctr">
                <a:lnSpc>
                  <a:spcPts val="4415"/>
                </a:lnSpc>
              </a:pPr>
              <a:r>
                <a:rPr lang="en-US" sz="3199" i="1">
                  <a:solidFill>
                    <a:srgbClr val="000000"/>
                  </a:solidFill>
                  <a:latin typeface="Times New Roman MT Italics"/>
                  <a:ea typeface="Times New Roman MT Italics"/>
                  <a:cs typeface="Times New Roman MT Italics"/>
                  <a:sym typeface="Times New Roman MT Italics"/>
                </a:rPr>
                <a:t>Potential to scale up for industrial and urban applications</a:t>
              </a:r>
            </a:p>
            <a:p>
              <a:pPr algn="ctr">
                <a:lnSpc>
                  <a:spcPts val="4415"/>
                </a:lnSpc>
              </a:pPr>
              <a:endParaRPr lang="en-US" sz="3199" i="1">
                <a:solidFill>
                  <a:srgbClr val="000000"/>
                </a:solidFill>
                <a:latin typeface="Times New Roman MT Italics"/>
                <a:ea typeface="Times New Roman MT Italics"/>
                <a:cs typeface="Times New Roman MT Italics"/>
                <a:sym typeface="Times New Roman MT Italic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rot="10787542">
            <a:off x="554719" y="9701150"/>
            <a:ext cx="17178563" cy="0"/>
          </a:xfrm>
          <a:prstGeom prst="line">
            <a:avLst/>
          </a:prstGeom>
          <a:ln w="9525" cap="rnd">
            <a:solidFill>
              <a:srgbClr val="595959"/>
            </a:solidFill>
            <a:prstDash val="solid"/>
            <a:headEnd type="none" w="sm" len="sm"/>
            <a:tailEnd type="none" w="sm" len="sm"/>
          </a:ln>
        </p:spPr>
        <p:txBody>
          <a:bodyPr/>
          <a:lstStyle/>
          <a:p>
            <a:endParaRPr lang="en-US"/>
          </a:p>
        </p:txBody>
      </p:sp>
      <p:grpSp>
        <p:nvGrpSpPr>
          <p:cNvPr id="3" name="Group 3"/>
          <p:cNvGrpSpPr/>
          <p:nvPr/>
        </p:nvGrpSpPr>
        <p:grpSpPr>
          <a:xfrm>
            <a:off x="488675" y="2919775"/>
            <a:ext cx="14717054" cy="2852505"/>
            <a:chOff x="0" y="-58585"/>
            <a:chExt cx="3876096" cy="751277"/>
          </a:xfrm>
        </p:grpSpPr>
        <p:sp>
          <p:nvSpPr>
            <p:cNvPr id="4" name="Freeform 4"/>
            <p:cNvSpPr/>
            <p:nvPr/>
          </p:nvSpPr>
          <p:spPr>
            <a:xfrm>
              <a:off x="0" y="0"/>
              <a:ext cx="3876096" cy="636977"/>
            </a:xfrm>
            <a:custGeom>
              <a:avLst/>
              <a:gdLst/>
              <a:ahLst/>
              <a:cxnLst/>
              <a:rect l="l" t="t" r="r" b="b"/>
              <a:pathLst>
                <a:path w="3876096" h="636977">
                  <a:moveTo>
                    <a:pt x="26829" y="0"/>
                  </a:moveTo>
                  <a:lnTo>
                    <a:pt x="3849267" y="0"/>
                  </a:lnTo>
                  <a:cubicBezTo>
                    <a:pt x="3864084" y="0"/>
                    <a:pt x="3876096" y="12012"/>
                    <a:pt x="3876096" y="26829"/>
                  </a:cubicBezTo>
                  <a:lnTo>
                    <a:pt x="3876096" y="610148"/>
                  </a:lnTo>
                  <a:cubicBezTo>
                    <a:pt x="3876096" y="624965"/>
                    <a:pt x="3864084" y="636977"/>
                    <a:pt x="3849267" y="636977"/>
                  </a:cubicBezTo>
                  <a:lnTo>
                    <a:pt x="26829" y="636977"/>
                  </a:lnTo>
                  <a:cubicBezTo>
                    <a:pt x="12012" y="636977"/>
                    <a:pt x="0" y="624965"/>
                    <a:pt x="0" y="610148"/>
                  </a:cubicBezTo>
                  <a:lnTo>
                    <a:pt x="0" y="26829"/>
                  </a:lnTo>
                  <a:cubicBezTo>
                    <a:pt x="0" y="12012"/>
                    <a:pt x="12012" y="0"/>
                    <a:pt x="26829" y="0"/>
                  </a:cubicBezTo>
                  <a:close/>
                </a:path>
              </a:pathLst>
            </a:custGeom>
            <a:solidFill>
              <a:srgbClr val="3BB3D2"/>
            </a:solidFill>
          </p:spPr>
          <p:txBody>
            <a:bodyPr/>
            <a:lstStyle/>
            <a:p>
              <a:endParaRPr lang="en-US"/>
            </a:p>
          </p:txBody>
        </p:sp>
        <p:sp>
          <p:nvSpPr>
            <p:cNvPr id="5" name="TextBox 5"/>
            <p:cNvSpPr txBox="1"/>
            <p:nvPr/>
          </p:nvSpPr>
          <p:spPr>
            <a:xfrm>
              <a:off x="0" y="-58585"/>
              <a:ext cx="3876095" cy="751277"/>
            </a:xfrm>
            <a:prstGeom prst="rect">
              <a:avLst/>
            </a:prstGeom>
          </p:spPr>
          <p:txBody>
            <a:bodyPr lIns="50800" tIns="50800" rIns="50800" bIns="50800" rtlCol="0" anchor="ctr"/>
            <a:lstStyle/>
            <a:p>
              <a:pPr algn="ctr">
                <a:lnSpc>
                  <a:spcPts val="4277"/>
                </a:lnSpc>
              </a:pPr>
              <a:r>
                <a:rPr lang="en-US" sz="3099" i="1" dirty="0">
                  <a:solidFill>
                    <a:srgbClr val="000000"/>
                  </a:solidFill>
                  <a:latin typeface="Times New Roman MT Italics"/>
                  <a:ea typeface="Times New Roman MT Italics"/>
                  <a:cs typeface="Times New Roman MT Italics"/>
                  <a:sym typeface="Times New Roman MT Italics"/>
                </a:rPr>
                <a:t>A hybrid energy system combining solar PV, wind energy, and battery storage has been effectively modeled and simulated using MATLAB/Simulink. The hybrid energy system shows reliable voltage regulation, consistent supply of energy to the load, and optimal utilization of renewable sources.</a:t>
              </a:r>
            </a:p>
          </p:txBody>
        </p:sp>
      </p:grpSp>
      <p:sp>
        <p:nvSpPr>
          <p:cNvPr id="6" name="TextBox 6"/>
          <p:cNvSpPr txBox="1"/>
          <p:nvPr/>
        </p:nvSpPr>
        <p:spPr>
          <a:xfrm>
            <a:off x="488675" y="9613650"/>
            <a:ext cx="11091150" cy="502875"/>
          </a:xfrm>
          <a:prstGeom prst="rect">
            <a:avLst/>
          </a:prstGeom>
        </p:spPr>
        <p:txBody>
          <a:bodyPr lIns="0" tIns="0" rIns="0" bIns="0" rtlCol="0" anchor="t">
            <a:spAutoFit/>
          </a:bodyPr>
          <a:lstStyle/>
          <a:p>
            <a:pPr algn="l">
              <a:lnSpc>
                <a:spcPts val="3036"/>
              </a:lnSpc>
            </a:pPr>
            <a:r>
              <a:rPr lang="en-US" sz="2200" i="1">
                <a:solidFill>
                  <a:srgbClr val="000000"/>
                </a:solidFill>
                <a:latin typeface="Times New Roman MT Italics"/>
                <a:ea typeface="Times New Roman MT Italics"/>
                <a:cs typeface="Times New Roman MT Italics"/>
                <a:sym typeface="Times New Roman MT Italics"/>
              </a:rPr>
              <a:t>AAAI Student Chapter: Young Researchers’ Conference 2025   </a:t>
            </a:r>
          </a:p>
        </p:txBody>
      </p:sp>
      <p:sp>
        <p:nvSpPr>
          <p:cNvPr id="7" name="TextBox 7"/>
          <p:cNvSpPr txBox="1"/>
          <p:nvPr/>
        </p:nvSpPr>
        <p:spPr>
          <a:xfrm>
            <a:off x="15205725" y="9597750"/>
            <a:ext cx="2426550" cy="381000"/>
          </a:xfrm>
          <a:prstGeom prst="rect">
            <a:avLst/>
          </a:prstGeom>
        </p:spPr>
        <p:txBody>
          <a:bodyPr lIns="0" tIns="0" rIns="0" bIns="0" rtlCol="0" anchor="t">
            <a:spAutoFit/>
          </a:bodyPr>
          <a:lstStyle/>
          <a:p>
            <a:pPr algn="r">
              <a:lnSpc>
                <a:spcPts val="2640"/>
              </a:lnSpc>
            </a:pPr>
            <a:r>
              <a:rPr lang="en-US" sz="2200">
                <a:solidFill>
                  <a:srgbClr val="595959"/>
                </a:solidFill>
                <a:latin typeface="Times New Roman MT"/>
                <a:ea typeface="Times New Roman MT"/>
                <a:cs typeface="Times New Roman MT"/>
                <a:sym typeface="Times New Roman MT"/>
              </a:rPr>
              <a:t>PAGE NO. 8</a:t>
            </a:r>
          </a:p>
        </p:txBody>
      </p:sp>
      <p:sp>
        <p:nvSpPr>
          <p:cNvPr id="8" name="TextBox 8"/>
          <p:cNvSpPr txBox="1"/>
          <p:nvPr/>
        </p:nvSpPr>
        <p:spPr>
          <a:xfrm>
            <a:off x="554775" y="2186285"/>
            <a:ext cx="2095500" cy="679705"/>
          </a:xfrm>
          <a:prstGeom prst="rect">
            <a:avLst/>
          </a:prstGeom>
        </p:spPr>
        <p:txBody>
          <a:bodyPr lIns="0" tIns="0" rIns="0" bIns="0" rtlCol="0" anchor="t">
            <a:spAutoFit/>
          </a:bodyPr>
          <a:lstStyle/>
          <a:p>
            <a:pPr algn="ctr">
              <a:lnSpc>
                <a:spcPts val="4967"/>
              </a:lnSpc>
              <a:spcBef>
                <a:spcPct val="0"/>
              </a:spcBef>
            </a:pPr>
            <a:r>
              <a:rPr lang="en-US" sz="3599" b="1" i="1">
                <a:solidFill>
                  <a:srgbClr val="000000"/>
                </a:solidFill>
                <a:latin typeface="Times New Roman MT Bold Italics"/>
                <a:ea typeface="Times New Roman MT Bold Italics"/>
                <a:cs typeface="Times New Roman MT Bold Italics"/>
                <a:sym typeface="Times New Roman MT Bold Italics"/>
              </a:rPr>
              <a:t>Conclusion</a:t>
            </a:r>
          </a:p>
        </p:txBody>
      </p:sp>
      <p:grpSp>
        <p:nvGrpSpPr>
          <p:cNvPr id="9" name="Group 9"/>
          <p:cNvGrpSpPr/>
          <p:nvPr/>
        </p:nvGrpSpPr>
        <p:grpSpPr>
          <a:xfrm>
            <a:off x="488675" y="5835150"/>
            <a:ext cx="14717050" cy="1792667"/>
            <a:chOff x="0" y="0"/>
            <a:chExt cx="3876095" cy="472143"/>
          </a:xfrm>
        </p:grpSpPr>
        <p:sp>
          <p:nvSpPr>
            <p:cNvPr id="10" name="Freeform 10"/>
            <p:cNvSpPr/>
            <p:nvPr/>
          </p:nvSpPr>
          <p:spPr>
            <a:xfrm>
              <a:off x="0" y="0"/>
              <a:ext cx="3876096" cy="472143"/>
            </a:xfrm>
            <a:custGeom>
              <a:avLst/>
              <a:gdLst/>
              <a:ahLst/>
              <a:cxnLst/>
              <a:rect l="l" t="t" r="r" b="b"/>
              <a:pathLst>
                <a:path w="3876096" h="472143">
                  <a:moveTo>
                    <a:pt x="26829" y="0"/>
                  </a:moveTo>
                  <a:lnTo>
                    <a:pt x="3849267" y="0"/>
                  </a:lnTo>
                  <a:cubicBezTo>
                    <a:pt x="3864084" y="0"/>
                    <a:pt x="3876096" y="12012"/>
                    <a:pt x="3876096" y="26829"/>
                  </a:cubicBezTo>
                  <a:lnTo>
                    <a:pt x="3876096" y="445314"/>
                  </a:lnTo>
                  <a:cubicBezTo>
                    <a:pt x="3876096" y="460131"/>
                    <a:pt x="3864084" y="472143"/>
                    <a:pt x="3849267" y="472143"/>
                  </a:cubicBezTo>
                  <a:lnTo>
                    <a:pt x="26829" y="472143"/>
                  </a:lnTo>
                  <a:cubicBezTo>
                    <a:pt x="12012" y="472143"/>
                    <a:pt x="0" y="460131"/>
                    <a:pt x="0" y="445314"/>
                  </a:cubicBezTo>
                  <a:lnTo>
                    <a:pt x="0" y="26829"/>
                  </a:lnTo>
                  <a:cubicBezTo>
                    <a:pt x="0" y="12012"/>
                    <a:pt x="12012" y="0"/>
                    <a:pt x="26829" y="0"/>
                  </a:cubicBezTo>
                  <a:close/>
                </a:path>
              </a:pathLst>
            </a:custGeom>
            <a:solidFill>
              <a:srgbClr val="3BB3D2"/>
            </a:solidFill>
          </p:spPr>
          <p:txBody>
            <a:bodyPr/>
            <a:lstStyle/>
            <a:p>
              <a:endParaRPr lang="en-US"/>
            </a:p>
          </p:txBody>
        </p:sp>
        <p:sp>
          <p:nvSpPr>
            <p:cNvPr id="11" name="TextBox 11"/>
            <p:cNvSpPr txBox="1"/>
            <p:nvPr/>
          </p:nvSpPr>
          <p:spPr>
            <a:xfrm>
              <a:off x="0" y="-114300"/>
              <a:ext cx="3876095" cy="586443"/>
            </a:xfrm>
            <a:prstGeom prst="rect">
              <a:avLst/>
            </a:prstGeom>
          </p:spPr>
          <p:txBody>
            <a:bodyPr lIns="50800" tIns="50800" rIns="50800" bIns="50800" rtlCol="0" anchor="ctr"/>
            <a:lstStyle/>
            <a:p>
              <a:pPr algn="ctr">
                <a:lnSpc>
                  <a:spcPts val="4277"/>
                </a:lnSpc>
              </a:pPr>
              <a:r>
                <a:rPr lang="en-US" sz="3099" i="1">
                  <a:solidFill>
                    <a:srgbClr val="000000"/>
                  </a:solidFill>
                  <a:latin typeface="Times New Roman MT Italics"/>
                  <a:ea typeface="Times New Roman MT Italics"/>
                  <a:cs typeface="Times New Roman MT Italics"/>
                  <a:sym typeface="Times New Roman MT Italics"/>
                </a:rPr>
                <a:t>Future research may include the addition of other sources such as fuel cells or electrolyzers, and cost and reliability analysis of the system in a practical environment.</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TotalTime>
  <Words>810</Words>
  <Application>Microsoft Office PowerPoint</Application>
  <PresentationFormat>Custom</PresentationFormat>
  <Paragraphs>87</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Times New Roman MT Bold Italics</vt:lpstr>
      <vt:lpstr>Times New Roman MT</vt:lpstr>
      <vt:lpstr>Calibri</vt:lpstr>
      <vt:lpstr>Arial</vt:lpstr>
      <vt:lpstr>Times New Roman MT Bold</vt:lpstr>
      <vt:lpstr>Times New Roman MT Italics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YRC CEP.pptx</dc:title>
  <cp:lastModifiedBy>Parth Shendkar</cp:lastModifiedBy>
  <cp:revision>1</cp:revision>
  <dcterms:created xsi:type="dcterms:W3CDTF">2006-08-16T00:00:00Z</dcterms:created>
  <dcterms:modified xsi:type="dcterms:W3CDTF">2025-09-30T06:10:28Z</dcterms:modified>
  <dc:identifier>DAG0Q165W0A</dc:identifier>
</cp:coreProperties>
</file>